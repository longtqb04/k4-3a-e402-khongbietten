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cad0d03d7c4a92" /><Relationship Type="http://schemas.openxmlformats.org/officeDocument/2006/relationships/extended-properties" Target="/docProps/app.xml" Id="Rfc02407b882947d4" /><Relationship Type="http://schemas.openxmlformats.org/officeDocument/2006/relationships/officeDocument" Target="/ppt/presentation.xml" Id="Rf6c6b0ffb2a14c3d" /></Relationships>
</file>

<file path=ppt/presentation.xml><?xml version="1.0" encoding="utf-8"?>
<p:presentation xmlns:p="http://schemas.openxmlformats.org/presentationml/2006/main">
  <p:sldMasterIdLst>
    <p:sldMasterId xmlns:r="http://schemas.openxmlformats.org/officeDocument/2006/relationships" id="2147483648" r:id="Rda9662ea831743ce"/>
  </p:sldMasterIdLst>
  <p:notesMasterIdLst>
    <p:notesMasterId xmlns:r="http://schemas.openxmlformats.org/officeDocument/2006/relationships" r:id="Rd156824d482b414b"/>
  </p:notesMasterIdLst>
  <p:sldIdLst>
    <p:sldId xmlns:r="http://schemas.openxmlformats.org/officeDocument/2006/relationships" id="256" r:id="R730f54cfc1bb4023"/>
    <p:sldId xmlns:r="http://schemas.openxmlformats.org/officeDocument/2006/relationships" id="257" r:id="R83b0051a63784845"/>
    <p:sldId xmlns:r="http://schemas.openxmlformats.org/officeDocument/2006/relationships" id="258" r:id="Rd55f09d9c1d6492a"/>
    <p:sldId xmlns:r="http://schemas.openxmlformats.org/officeDocument/2006/relationships" id="259" r:id="R578a904756334f8d"/>
    <p:sldId xmlns:r="http://schemas.openxmlformats.org/officeDocument/2006/relationships" id="260" r:id="R84ff6046890d4dd0"/>
    <p:sldId xmlns:r="http://schemas.openxmlformats.org/officeDocument/2006/relationships" id="261" r:id="Rf59f036294e946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00687338364629" /><Relationship Type="http://schemas.openxmlformats.org/officeDocument/2006/relationships/slideMaster" Target="/ppt/slideMasters/slideMaster1.xml" Id="Rda9662ea831743ce" /><Relationship Type="http://schemas.openxmlformats.org/officeDocument/2006/relationships/notesMaster" Target="/ppt/notesMasters/notesMaster1.xml" Id="Rd156824d482b414b" /><Relationship Type="http://schemas.openxmlformats.org/officeDocument/2006/relationships/presProps" Target="/ppt/presProps.xml" Id="R142d288422054eb9" /><Relationship Type="http://schemas.openxmlformats.org/officeDocument/2006/relationships/tableStyles" Target="/ppt/tableStyles.xml" Id="Rf99e04ee33934c77" /><Relationship Type="http://schemas.openxmlformats.org/officeDocument/2006/relationships/slide" Target="/ppt/slides/slide1.xml" Id="R730f54cfc1bb4023" /><Relationship Type="http://schemas.openxmlformats.org/officeDocument/2006/relationships/slide" Target="/ppt/slides/slide2.xml" Id="R83b0051a63784845" /><Relationship Type="http://schemas.openxmlformats.org/officeDocument/2006/relationships/slide" Target="/ppt/slides/slide3.xml" Id="Rd55f09d9c1d6492a" /><Relationship Type="http://schemas.openxmlformats.org/officeDocument/2006/relationships/slide" Target="/ppt/slides/slide4.xml" Id="R578a904756334f8d" /><Relationship Type="http://schemas.openxmlformats.org/officeDocument/2006/relationships/slide" Target="/ppt/slides/slide5.xml" Id="R84ff6046890d4dd0" /><Relationship Type="http://schemas.openxmlformats.org/officeDocument/2006/relationships/slide" Target="/ppt/slides/slide6.xml" Id="Rf59f036294e946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ace2d275ae4e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ba2b230d2b4a08" /><Relationship Type="http://schemas.openxmlformats.org/officeDocument/2006/relationships/notesMaster" Target="/ppt/notesMasters/notesMaster1.xml" Id="Rce587fd38e154d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2eb2944d8d4c24" /><Relationship Type="http://schemas.openxmlformats.org/officeDocument/2006/relationships/notesMaster" Target="/ppt/notesMasters/notesMaster1.xml" Id="R939fd1fb482a45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27771816014306" /><Relationship Type="http://schemas.openxmlformats.org/officeDocument/2006/relationships/notesMaster" Target="/ppt/notesMasters/notesMaster1.xml" Id="R72e40564940141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016c8b0de942f5" /><Relationship Type="http://schemas.openxmlformats.org/officeDocument/2006/relationships/notesMaster" Target="/ppt/notesMasters/notesMaster1.xml" Id="R1d34552f0e124a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e9a7a3a96f4589" /><Relationship Type="http://schemas.openxmlformats.org/officeDocument/2006/relationships/notesMaster" Target="/ppt/notesMasters/notesMaster1.xml" Id="R94493cbbe3d144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77a50b3bc14d80" /><Relationship Type="http://schemas.openxmlformats.org/officeDocument/2006/relationships/notesMaster" Target="/ppt/notesMasters/notesMaster1.xml" Id="R28b0b40f8d0943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Trí | 0:00–0:45</a:t>
            </a:r>
          </a:p>
          <a:p xmlns:a="http://schemas.openxmlformats.org/drawingml/2006/main">
            <a:r>
              <a:t>Nhóm Không Biết Tên giới thiệu Kute, trợ lý hỗ trợ học viên trong quá trình thực hành. Đọc câu hỏi M07901. Khi mắc lỗi cài CVAT, việc người học cần hoàn thành là xử lý lỗi để tiếp tục bài lab. Nhóm đọc 1.092 tin nhắn onboarding, gồm 779 tin người gửi và 313 tin bot. Đây là số tin nhắn, không phải số học viên. Kute tìm hướng dẫn có nguồn và có đường chuyển TA khi chưa đủ căn cứ. Chưa đo thời gian chờ hoặc mức tiết kiệm thời gian.</a:t>
            </a:r>
          </a:p>
          <a:p xmlns:a="http://schemas.openxmlformats.org/drawingml/2006/main">
            <a:r>
              <a:t>Nguồn: data/k4_messages.csv, M07901; eval/evidence.json.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Trí | 0:45–1:30</a:t>
            </a:r>
          </a:p>
          <a:p xmlns:a="http://schemas.openxmlformats.org/drawingml/2006/main">
            <a:r>
              <a:t>Nhóm cân nhắc ba hướng từ dữ liệu: hỗ trợ kỹ thuật, điểm danh, standup và lập nhóm. Hỗ trợ kỹ thuật có 21 tin chứa từ khóa CVAT, OPA hoặc Docker và 28 tin Phoenix. Nhóm chọn hướng này vì có hướng dẫn cụ thể để đối chiếu. Điểm danh cần hồ sơ cá nhân mà nhóm chưa có. Standup và lập nhóm cần xác minh quy định và quyền thao tác. Các số đếm là tin có từ khóa, có thể chồng lắp, chưa phải câu hỏi lặp đã gán nhãn. Chưa đo mức giảm tải cho TA.</a:t>
            </a:r>
          </a:p>
          <a:p xmlns:a="http://schemas.openxmlformats.org/drawingml/2006/main">
            <a:r>
              <a:t>Nguồn: eval/evidence.json; scripts/evidence.js.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 | 1:30–3:45</a:t>
            </a:r>
          </a:p>
          <a:p xmlns:a="http://schemas.openxmlformats.org/drawingml/2006/main">
            <a:r>
              <a:t>Kute có ba nhánh: FOUND trả lời có nguồn, CLARIFY hỏi thêm, NOT_FOUND thông báo chưa đủ căn cứ hoặc ngoài thẩm quyền và cho chuyển TA. Kho hiện có 4 trích đoạn cộng đồng đối chiếu CSV, chưa có TA duyệt. Hướng dẫn sai có thể khiến người học sửa nhầm môi trường nên nhóm chọn tự động hóa có điều kiện.</a:t>
            </a:r>
          </a:p>
          <a:p xmlns:a="http://schemas.openxmlformats.org/drawingml/2006/main">
            <a:r>
              <a:t>Khoảng 1:55 chuyển sang web. Gửi nguyên câu: CVAT OPA báo 500 health bundles ngay sau docker compose up -d. Mở nguồn M12802, đối chiếu tình huống lỗi ngay khi khởi động và thời gian chờ khoảng một phút. Không mở rộng kết luận sang mọi lỗi 500.</a:t>
            </a:r>
          </a:p>
          <a:p xmlns:a="http://schemas.openxmlformats.org/drawingml/2006/main">
            <a:r>
              <a:t>Đặt lại rồi gửi: Xin gia hạn bài CVAT health check cho em. Chỉ ra hệ thống không tự gia hạn. Bấm chuyển TA, đọc trạng thái thực tế. Ticket local chỉ có nghĩa đã lưu, chưa có nghĩa TA nhận. Tích hợp Discord có code nhưng chưa có bằng chứng kiểm chứng guild thật. Nếu live lỗi, dùng bản ghi đã kiểm tra và nói rõ đó là video. Kết thúc demo trước 3:45.</a:t>
            </a:r>
          </a:p>
          <a:p xmlns:a="http://schemas.openxmlformats.org/drawingml/2006/main">
            <a:r>
              <a:t>Nguồn: src/assistant.js; src/knowledge.js; src/discord.js; 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Trường | 3:45–4:35</a:t>
            </a:r>
          </a:p>
          <a:p xmlns:a="http://schemas.openxmlformats.org/drawingml/2006/main">
            <a:r>
              <a:t>Nhóm chạy bộ 20 câu tự xây gồm 8 FOUND, 4 CLARIFY và 8 NOT_FOUND. Log ngày 17/09 ghi 20/20 đạt kiểm tra nhánh và mã trích đoạn kỳ vọng. Có 8 ca cần gọi AI và cả 8 có phản hồi thật; 12 ca còn lại xử lý bằng rule.</a:t>
            </a:r>
          </a:p>
          <a:p xmlns:a="http://schemas.openxmlformats.org/drawingml/2006/main">
            <a:r>
              <a:t>Quality bar trong spec giữ nguyên: đạt khi ít nhất 85% đúng nhánh và nguồn, 100% không bịa khẳng định khi thiếu nguồn. Kết quả đạt phần nhánh và nguồn, nhưng script chỉ kiểm tra decision và source ID. Chưa đủ bằng chứng nghiệm thu điều kiện nội dung hay kết luận AI đúng 100%. Spec còn ghi chỉ tiêu routing 100%, citation 100%, acceptance chuyên môn ít nhất 85%; chưa có phiếu chấm chuyên môn tương ứng với log hiện tại. Không dùng con số 19/20 ở báo cáo cũ cho output đang lưu.</a:t>
            </a:r>
          </a:p>
          <a:p xmlns:a="http://schemas.openxmlformats.org/drawingml/2006/main">
            <a:r>
              <a:t>Nguồn: eval/results-live.json; scripts/evaluate.js; spec.md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Trường | 4:35–5:25</a:t>
            </a:r>
          </a:p>
          <a:p xmlns:a="http://schemas.openxmlformats.org/drawingml/2006/main">
            <a:r>
              <a:t>Đây là case 6 trong log hiện tại, không phải kết quả của một lượt thử mới. Script chấm đạt vì nhánh và mã nguồn M17439 đúng kỳ vọng. Tuy vậy, cụm “Hình bản CVAT cũ” chưa rõ nghĩa kỹ thuật. Nguồn cộng đồng cũng có cách diễn đạt này, nên cần làm rõ nguồn và giữ đúng thuật ngữ trước khi kỳ vọng model trả lời tốt. Hai phiên bản xuất hiện trong nguồn nhưng câu trả lời cần được người am hiểu kiểm tra về nội dung và cách áp dụng.</a:t>
            </a:r>
          </a:p>
          <a:p xmlns:a="http://schemas.openxmlformats.org/drawingml/2006/main">
            <a:r>
              <a:t>Bài học là có mã nguồn dẫn chưa đủ chứng minh câu trả lời đúng và rõ. Nhóm chưa có log validation ngoài nhóm, nên trình bày phân tích golden set theo phương án guide cho phép. Không tự gán tỷ lệ nội dung đạt hoặc lỗi khi chưa có phiếu chấm cho chính output này.</a:t>
            </a:r>
          </a:p>
          <a:p xmlns:a="http://schemas.openxmlformats.org/drawingml/2006/main">
            <a:r>
              <a:t>Nguồn: eval/results-live.json, case 6; src/knowledge.js, M17439; guide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Dương | 5:25–6:00</a:t>
            </a:r>
          </a:p>
          <a:p xmlns:a="http://schemas.openxmlformats.org/drawingml/2006/main">
            <a:r>
              <a:t>Nếu có thêm một tuần, nhóm ưu tiên kiểm chứng trước khi mở rộng. Trước hết, hai người chấm độc lập nội dung, sửa thuật ngữ và chạy lại đủ 20 câu, lưu riêng mỗi lượt. Tiếp theo, nhờ TA duyệt 4 trích đoạn hiện có và bổ sung các cách hỏi biến thể. Cuối cùng, cho 5 người ngoài nhóm dùng thử, ghi hành vi và phản hồi thật, đồng thời kiểm chứng ticket đến TA trên Discord. Prototype đã có web gọi AI, trích đoạn nguồn và lưu ticket. Hiệu quả thực tế với học viên còn cần đo. Bài học của nhóm: mỗi hướng dẫn cần có nguồn thực sự chứng minh. Cảm ơn ban giám khảo.</a:t>
            </a:r>
          </a:p>
          <a:p xmlns:a="http://schemas.openxmlformats.org/drawingml/2006/main">
            <a:r>
              <a:t>Thành viên: Trần Quốc Bảo Long, Ngô Minh Trí, Nguyễn Thanh Dương, Đào Thanh Trường.</a:t>
            </a:r>
          </a:p>
          <a:p xmlns:a="http://schemas.openxmlformats.org/drawingml/2006/main">
            <a:r>
              <a:t>Nguồn: eval/results-live.json; src/knowledge.js; docs/SPEC-REVIEW.md.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1d1cb5fb0940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14d8a57ed441dd" /><Relationship Type="http://schemas.openxmlformats.org/officeDocument/2006/relationships/slideLayout" Target="/ppt/slideLayouts/slideLayout1.xml" Id="R548ab2b8ac1e48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8ab2b8ac1e48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741c5635094e38" /><Relationship Type="http://schemas.openxmlformats.org/officeDocument/2006/relationships/notesSlide" Target="/ppt/notesSlides/notesSlide1.xml" Id="R94ed132314754b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285e2e89a64161" /><Relationship Type="http://schemas.openxmlformats.org/officeDocument/2006/relationships/notesSlide" Target="/ppt/notesSlides/notesSlide2.xml" Id="Reaa30380c60949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de9ceec3674440" /><Relationship Type="http://schemas.openxmlformats.org/officeDocument/2006/relationships/notesSlide" Target="/ppt/notesSlides/notesSlide3.xml" Id="Rca78899f9f2e4b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45e05fc02444c2" /><Relationship Type="http://schemas.openxmlformats.org/officeDocument/2006/relationships/notesSlide" Target="/ppt/notesSlides/notesSlide4.xml" Id="Rb3106ef3482e44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593c792b214ab8" /><Relationship Type="http://schemas.openxmlformats.org/officeDocument/2006/relationships/notesSlide" Target="/ppt/notesSlides/notesSlide5.xml" Id="R2eeaef8494fd4d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698b1f8b294b2e" /><Relationship Type="http://schemas.openxmlformats.org/officeDocument/2006/relationships/notesSlide" Target="/ppt/notesSlides/notesSlide6.xml" Id="R2243f715110f4794" /></Relationships>
</file>

<file path=ppt/slides/slide1.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E317A3-8981-4A90-82CE-BE50F8CC4059}"/>
              </a:ext>
            </a:extLst>
          </p:cNvPr>
          <p:cNvSpPr>
            <a:spLocks xmlns:a="http://schemas.openxmlformats.org/drawingml/2006/main" noGrp="1"/>
          </p:cNvSpPr>
          <p:nvPr/>
        </p:nvSpPr>
        <p:spPr>
          <a:xfrm xmlns:a="http://schemas.openxmlformats.org/drawingml/2006/main">
            <a:off x="609600" y="266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6E0B5"/>
                </a:solidFill>
                <a:latin typeface="Arial"/>
                <a:ea typeface="Arial"/>
                <a:cs typeface="Arial"/>
              </a:defRPr>
            </a:pPr>
            <a:r>
              <a:rPr sz="1350" b="1">
                <a:solidFill>
                  <a:srgbClr val="66E0B5"/>
                </a:solidFill>
                <a:latin typeface="Arial"/>
                <a:ea typeface="Arial"/>
                <a:cs typeface="Arial"/>
              </a:rPr>
              <a:t>KUTE</a:t>
            </a:r>
          </a:p>
        </p:txBody>
      </p:sp>
      <p:sp>
        <p:nvSpPr>
          <p:cNvPr id="2" name="">
            <a:extLst xmlns:a="http://schemas.openxmlformats.org/drawingml/2006/main">
              <a:ext uri="{FF2B5EF4-FFF2-40B4-BE49-F238E27FC236}">
                <a16:creationId xmlns:a16="http://schemas.microsoft.com/office/drawing/2014/main" id="{27DAC44F-2867-4AB2-A30C-F92D8959A53B}"/>
              </a:ext>
            </a:extLst>
          </p:cNvPr>
          <p:cNvSpPr>
            <a:spLocks xmlns:a="http://schemas.openxmlformats.org/drawingml/2006/main" noGrp="1"/>
          </p:cNvSpPr>
          <p:nvPr/>
        </p:nvSpPr>
        <p:spPr>
          <a:xfrm xmlns:a="http://schemas.openxmlformats.org/drawingml/2006/main">
            <a:off x="10572750" y="2667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01 / 06</a:t>
            </a:r>
          </a:p>
        </p:txBody>
      </p:sp>
      <p:sp>
        <p:nvSpPr>
          <p:cNvPr id="3" name="">
            <a:extLst xmlns:a="http://schemas.openxmlformats.org/drawingml/2006/main">
              <a:ext uri="{FF2B5EF4-FFF2-40B4-BE49-F238E27FC236}">
                <a16:creationId xmlns:a16="http://schemas.microsoft.com/office/drawing/2014/main" id="{E005B8D8-41E9-436D-B175-95F4851C5FF9}"/>
              </a:ext>
            </a:extLst>
          </p:cNvPr>
          <p:cNvSpPr>
            <a:spLocks xmlns:a="http://schemas.openxmlformats.org/drawingml/2006/main" noGrp="1"/>
          </p:cNvSpPr>
          <p:nvPr/>
        </p:nvSpPr>
        <p:spPr>
          <a:xfrm xmlns:a="http://schemas.openxmlformats.org/drawingml/2006/main">
            <a:off x="609600" y="88582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Hỗ trợ học viên tiếp tục bài lab</a:t>
            </a:r>
          </a:p>
        </p:txBody>
      </p:sp>
      <p:sp>
        <p:nvSpPr>
          <p:cNvPr id="4" name="">
            <a:extLst xmlns:a="http://schemas.openxmlformats.org/drawingml/2006/main">
              <a:ext uri="{FF2B5EF4-FFF2-40B4-BE49-F238E27FC236}">
                <a16:creationId xmlns:a16="http://schemas.microsoft.com/office/drawing/2014/main" id="{57FC1CFA-5299-4EEB-8F85-083736F76808}"/>
              </a:ext>
            </a:extLst>
          </p:cNvPr>
          <p:cNvSpPr>
            <a:spLocks xmlns:a="http://schemas.openxmlformats.org/drawingml/2006/main" noGrp="1"/>
          </p:cNvSpPr>
          <p:nvPr/>
        </p:nvSpPr>
        <p:spPr>
          <a:xfrm xmlns:a="http://schemas.openxmlformats.org/drawingml/2006/main">
            <a:off x="609600" y="6391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8C5"/>
                </a:solidFill>
                <a:latin typeface="Arial"/>
                <a:ea typeface="Arial"/>
                <a:cs typeface="Arial"/>
              </a:defRPr>
            </a:pPr>
            <a:r>
              <a:rPr sz="1125" b="0">
                <a:solidFill>
                  <a:srgbClr val="AAB8C5"/>
                </a:solidFill>
                <a:latin typeface="Arial"/>
                <a:ea typeface="Arial"/>
                <a:cs typeface="Arial"/>
              </a:rPr>
              <a:t>Nguồn: k4_messages.csv, M07901; eval/evidence.json. Dữ liệu 12–14/09/2026.</a:t>
            </a:r>
          </a:p>
        </p:txBody>
      </p:sp>
      <p:sp>
        <p:nvSpPr>
          <p:cNvPr id="5" name="">
            <a:extLst xmlns:a="http://schemas.openxmlformats.org/drawingml/2006/main">
              <a:ext uri="{FF2B5EF4-FFF2-40B4-BE49-F238E27FC236}">
                <a16:creationId xmlns:a16="http://schemas.microsoft.com/office/drawing/2014/main" id="{A8E7EECD-D9BC-46F1-9244-8DBA691F4921}"/>
              </a:ext>
            </a:extLst>
          </p:cNvPr>
          <p:cNvSpPr>
            <a:spLocks xmlns:a="http://schemas.openxmlformats.org/drawingml/2006/main" noGrp="1"/>
          </p:cNvSpPr>
          <p:nvPr/>
        </p:nvSpPr>
        <p:spPr>
          <a:xfrm xmlns:a="http://schemas.openxmlformats.org/drawingml/2006/main">
            <a:off x="609600" y="2238375"/>
            <a:ext cx="73342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3F6F7"/>
                </a:solidFill>
                <a:latin typeface="Arial"/>
                <a:ea typeface="Arial"/>
                <a:cs typeface="Arial"/>
              </a:defRPr>
            </a:pPr>
            <a:r>
              <a:rPr sz="2850" b="1">
                <a:solidFill>
                  <a:srgbClr val="F3F6F7"/>
                </a:solidFill>
                <a:latin typeface="Arial"/>
                <a:ea typeface="Arial"/>
                <a:cs typeface="Arial"/>
              </a:rPr>
              <a:t>“Hi, mình vẫn chưa cài được CVAT.</a:t>
            </a:r>
          </a:p>
          <a:p xmlns:a="http://schemas.openxmlformats.org/drawingml/2006/main">
            <a:pPr>
              <a:defRPr sz="2850" b="1">
                <a:solidFill>
                  <a:srgbClr val="F3F6F7"/>
                </a:solidFill>
                <a:latin typeface="Arial"/>
                <a:ea typeface="Arial"/>
                <a:cs typeface="Arial"/>
              </a:defRPr>
            </a:pPr>
            <a:r>
              <a:rPr sz="2850" b="1">
                <a:solidFill>
                  <a:srgbClr val="F3F6F7"/>
                </a:solidFill>
                <a:latin typeface="Arial"/>
                <a:ea typeface="Arial"/>
                <a:cs typeface="Arial"/>
              </a:rPr>
              <a:t>Có bạn nào hỗ trợ được</a:t>
            </a:r>
          </a:p>
          <a:p xmlns:a="http://schemas.openxmlformats.org/drawingml/2006/main">
            <a:pPr>
              <a:defRPr sz="2850" b="1">
                <a:solidFill>
                  <a:srgbClr val="F3F6F7"/>
                </a:solidFill>
                <a:latin typeface="Arial"/>
                <a:ea typeface="Arial"/>
                <a:cs typeface="Arial"/>
              </a:defRPr>
            </a:pPr>
            <a:r>
              <a:rPr sz="2850" b="1">
                <a:solidFill>
                  <a:srgbClr val="F3F6F7"/>
                </a:solidFill>
                <a:latin typeface="Arial"/>
                <a:ea typeface="Arial"/>
                <a:cs typeface="Arial"/>
              </a:rPr>
              <a:t>mình không?”</a:t>
            </a:r>
          </a:p>
        </p:txBody>
      </p:sp>
      <p:sp>
        <p:nvSpPr>
          <p:cNvPr id="6" name="">
            <a:extLst xmlns:a="http://schemas.openxmlformats.org/drawingml/2006/main">
              <a:ext uri="{FF2B5EF4-FFF2-40B4-BE49-F238E27FC236}">
                <a16:creationId xmlns:a16="http://schemas.microsoft.com/office/drawing/2014/main" id="{ECF26A82-17D6-463E-928F-A4B53EB18BAE}"/>
              </a:ext>
            </a:extLst>
          </p:cNvPr>
          <p:cNvSpPr>
            <a:spLocks xmlns:a="http://schemas.openxmlformats.org/drawingml/2006/main" noGrp="1"/>
          </p:cNvSpPr>
          <p:nvPr/>
        </p:nvSpPr>
        <p:spPr>
          <a:xfrm xmlns:a="http://schemas.openxmlformats.org/drawingml/2006/main">
            <a:off x="609600" y="409575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AB8C5"/>
                </a:solidFill>
                <a:latin typeface="Arial"/>
                <a:ea typeface="Arial"/>
                <a:cs typeface="Arial"/>
              </a:defRPr>
            </a:pPr>
            <a:r>
              <a:rPr sz="1575" b="0">
                <a:solidFill>
                  <a:srgbClr val="AAB8C5"/>
                </a:solidFill>
                <a:latin typeface="Arial"/>
                <a:ea typeface="Arial"/>
                <a:cs typeface="Arial"/>
              </a:rPr>
              <a:t>M07901, câu hỏi trong dữ liệu onboarding</a:t>
            </a:r>
          </a:p>
        </p:txBody>
      </p:sp>
      <p:sp>
        <p:nvSpPr>
          <p:cNvPr id="7" name="">
            <a:extLst xmlns:a="http://schemas.openxmlformats.org/drawingml/2006/main">
              <a:ext uri="{FF2B5EF4-FFF2-40B4-BE49-F238E27FC236}">
                <a16:creationId xmlns:a16="http://schemas.microsoft.com/office/drawing/2014/main" id="{8B59B30B-7A93-4B66-8F78-FF9E80C67F59}"/>
              </a:ext>
            </a:extLst>
          </p:cNvPr>
          <p:cNvSpPr>
            <a:spLocks xmlns:a="http://schemas.openxmlformats.org/drawingml/2006/main" noGrp="1"/>
          </p:cNvSpPr>
          <p:nvPr/>
        </p:nvSpPr>
        <p:spPr>
          <a:xfrm xmlns:a="http://schemas.openxmlformats.org/drawingml/2006/main">
            <a:off x="8686800" y="2152650"/>
            <a:ext cx="276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66E0B5"/>
                </a:solidFill>
                <a:latin typeface="Arial"/>
                <a:ea typeface="Arial"/>
                <a:cs typeface="Arial"/>
              </a:defRPr>
            </a:pPr>
            <a:r>
              <a:rPr sz="5700" b="1">
                <a:solidFill>
                  <a:srgbClr val="66E0B5"/>
                </a:solidFill>
                <a:latin typeface="Arial"/>
                <a:ea typeface="Arial"/>
                <a:cs typeface="Arial"/>
              </a:rPr>
              <a:t>1.092</a:t>
            </a:r>
          </a:p>
        </p:txBody>
      </p:sp>
      <p:sp>
        <p:nvSpPr>
          <p:cNvPr id="8" name="">
            <a:extLst xmlns:a="http://schemas.openxmlformats.org/drawingml/2006/main">
              <a:ext uri="{FF2B5EF4-FFF2-40B4-BE49-F238E27FC236}">
                <a16:creationId xmlns:a16="http://schemas.microsoft.com/office/drawing/2014/main" id="{93BC56F6-0CED-4C78-B0D4-7F09BD513BE2}"/>
              </a:ext>
            </a:extLst>
          </p:cNvPr>
          <p:cNvSpPr>
            <a:spLocks xmlns:a="http://schemas.openxmlformats.org/drawingml/2006/main" noGrp="1"/>
          </p:cNvSpPr>
          <p:nvPr/>
        </p:nvSpPr>
        <p:spPr>
          <a:xfrm xmlns:a="http://schemas.openxmlformats.org/drawingml/2006/main">
            <a:off x="8724900" y="326707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6F7"/>
                </a:solidFill>
                <a:latin typeface="Arial"/>
                <a:ea typeface="Arial"/>
                <a:cs typeface="Arial"/>
              </a:defRPr>
            </a:pPr>
            <a:r>
              <a:rPr sz="2100" b="0">
                <a:solidFill>
                  <a:srgbClr val="F3F6F7"/>
                </a:solidFill>
                <a:latin typeface="Arial"/>
                <a:ea typeface="Arial"/>
                <a:cs typeface="Arial"/>
              </a:rPr>
              <a:t>tin nhắn</a:t>
            </a:r>
          </a:p>
        </p:txBody>
      </p:sp>
      <p:sp>
        <p:nvSpPr>
          <p:cNvPr id="9" name="">
            <a:extLst xmlns:a="http://schemas.openxmlformats.org/drawingml/2006/main">
              <a:ext uri="{FF2B5EF4-FFF2-40B4-BE49-F238E27FC236}">
                <a16:creationId xmlns:a16="http://schemas.microsoft.com/office/drawing/2014/main" id="{761564F8-10DF-42D3-8504-46D1AE43FFF0}"/>
              </a:ext>
            </a:extLst>
          </p:cNvPr>
          <p:cNvSpPr>
            <a:spLocks xmlns:a="http://schemas.openxmlformats.org/drawingml/2006/main" noGrp="1"/>
          </p:cNvSpPr>
          <p:nvPr/>
        </p:nvSpPr>
        <p:spPr>
          <a:xfrm xmlns:a="http://schemas.openxmlformats.org/drawingml/2006/main">
            <a:off x="8724900" y="4057650"/>
            <a:ext cx="26860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AB8C5"/>
                </a:solidFill>
                <a:latin typeface="Arial"/>
                <a:ea typeface="Arial"/>
                <a:cs typeface="Arial"/>
              </a:defRPr>
            </a:pPr>
            <a:r>
              <a:rPr sz="1875" b="0">
                <a:solidFill>
                  <a:srgbClr val="AAB8C5"/>
                </a:solidFill>
                <a:latin typeface="Arial"/>
                <a:ea typeface="Arial"/>
                <a:cs typeface="Arial"/>
              </a:rPr>
              <a:t>779 tin người gửi</a:t>
            </a:r>
          </a:p>
          <a:p xmlns:a="http://schemas.openxmlformats.org/drawingml/2006/main">
            <a:pPr>
              <a:defRPr sz="1875" b="0">
                <a:solidFill>
                  <a:srgbClr val="AAB8C5"/>
                </a:solidFill>
                <a:latin typeface="Arial"/>
                <a:ea typeface="Arial"/>
                <a:cs typeface="Arial"/>
              </a:defRPr>
            </a:pPr>
            <a:r>
              <a:rPr sz="1875" b="0">
                <a:solidFill>
                  <a:srgbClr val="AAB8C5"/>
                </a:solidFill>
                <a:latin typeface="Arial"/>
                <a:ea typeface="Arial"/>
                <a:cs typeface="Arial"/>
              </a:rPr>
              <a:t>313 tin bot</a:t>
            </a:r>
          </a:p>
        </p:txBody>
      </p:sp>
      <p:sp>
        <p:nvSpPr>
          <p:cNvPr id="10" name="">
            <a:extLst xmlns:a="http://schemas.openxmlformats.org/drawingml/2006/main">
              <a:ext uri="{FF2B5EF4-FFF2-40B4-BE49-F238E27FC236}">
                <a16:creationId xmlns:a16="http://schemas.microsoft.com/office/drawing/2014/main" id="{FF046C11-5971-452D-86E9-7A01EC84A9CE}"/>
              </a:ext>
            </a:extLst>
          </p:cNvPr>
          <p:cNvSpPr>
            <a:spLocks xmlns:a="http://schemas.openxmlformats.org/drawingml/2006/main" noGrp="1"/>
          </p:cNvSpPr>
          <p:nvPr/>
        </p:nvSpPr>
        <p:spPr>
          <a:xfrm xmlns:a="http://schemas.openxmlformats.org/drawingml/2006/main">
            <a:off x="609600" y="5067300"/>
            <a:ext cx="7810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66E0B5"/>
                </a:solidFill>
                <a:latin typeface="Arial"/>
                <a:ea typeface="Arial"/>
                <a:cs typeface="Arial"/>
              </a:defRPr>
            </a:pPr>
            <a:r>
              <a:rPr sz="2325" b="0">
                <a:solidFill>
                  <a:srgbClr val="66E0B5"/>
                </a:solidFill>
                <a:latin typeface="Arial"/>
                <a:ea typeface="Arial"/>
                <a:cs typeface="Arial"/>
              </a:rPr>
              <a:t>Kute tìm hướng dẫn có nguồn</a:t>
            </a:r>
          </a:p>
          <a:p xmlns:a="http://schemas.openxmlformats.org/drawingml/2006/main">
            <a:pPr>
              <a:defRPr sz="2325" b="0">
                <a:solidFill>
                  <a:srgbClr val="66E0B5"/>
                </a:solidFill>
                <a:latin typeface="Arial"/>
                <a:ea typeface="Arial"/>
                <a:cs typeface="Arial"/>
              </a:defRPr>
            </a:pPr>
            <a:r>
              <a:rPr sz="2325" b="0">
                <a:solidFill>
                  <a:srgbClr val="66E0B5"/>
                </a:solidFill>
                <a:latin typeface="Arial"/>
                <a:ea typeface="Arial"/>
                <a:cs typeface="Arial"/>
              </a:rPr>
              <a:t>và cho người học chuyển câu hỏi tới TA.</a:t>
            </a:r>
          </a:p>
        </p:txBody>
      </p:sp>
      <p:sp>
        <p:nvSpPr>
          <p:cNvPr id="11" name="">
            <a:extLst xmlns:a="http://schemas.openxmlformats.org/drawingml/2006/main">
              <a:ext uri="{FF2B5EF4-FFF2-40B4-BE49-F238E27FC236}">
                <a16:creationId xmlns:a16="http://schemas.microsoft.com/office/drawing/2014/main" id="{27AAD7FF-01D1-4723-9BAD-3FDA57C5A1B4}"/>
              </a:ext>
            </a:extLst>
          </p:cNvPr>
          <p:cNvSpPr>
            <a:spLocks xmlns:a="http://schemas.openxmlformats.org/drawingml/2006/main" noGrp="1"/>
          </p:cNvSpPr>
          <p:nvPr/>
        </p:nvSpPr>
        <p:spPr>
          <a:xfrm xmlns:a="http://schemas.openxmlformats.org/drawingml/2006/main">
            <a:off x="609600" y="6019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AB8C5"/>
                </a:solidFill>
                <a:latin typeface="Arial"/>
                <a:ea typeface="Arial"/>
                <a:cs typeface="Arial"/>
              </a:defRPr>
            </a:pPr>
            <a:r>
              <a:rPr sz="1350" b="0">
                <a:solidFill>
                  <a:srgbClr val="AAB8C5"/>
                </a:solidFill>
                <a:latin typeface="Arial"/>
                <a:ea typeface="Arial"/>
                <a:cs typeface="Arial"/>
              </a:rPr>
              <a:t>Nhóm Không Biết Tên, K4-3A-E402</a:t>
            </a:r>
          </a:p>
        </p:txBody>
      </p:sp>
    </p:spTree>
    <p:extLst>
      <p:ext uri="{BB962C8B-B14F-4D97-AF65-F5344CB8AC3E}">
        <p14:creationId xmlns:p14="http://schemas.microsoft.com/office/powerpoint/2010/main" val="1724106356"/>
      </p:ext>
    </p:extLst>
  </p:cSld>
</p:sld>
</file>

<file path=ppt/slides/slide2.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7FE4F6-1B31-4D47-B654-AA8FA66925FE}"/>
              </a:ext>
            </a:extLst>
          </p:cNvPr>
          <p:cNvSpPr>
            <a:spLocks xmlns:a="http://schemas.openxmlformats.org/drawingml/2006/main" noGrp="1"/>
          </p:cNvSpPr>
          <p:nvPr/>
        </p:nvSpPr>
        <p:spPr>
          <a:xfrm xmlns:a="http://schemas.openxmlformats.org/drawingml/2006/main">
            <a:off x="609600" y="266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6E0B5"/>
                </a:solidFill>
                <a:latin typeface="Arial"/>
                <a:ea typeface="Arial"/>
                <a:cs typeface="Arial"/>
              </a:defRPr>
            </a:pPr>
            <a:r>
              <a:rPr sz="1350" b="1">
                <a:solidFill>
                  <a:srgbClr val="66E0B5"/>
                </a:solidFill>
                <a:latin typeface="Arial"/>
                <a:ea typeface="Arial"/>
                <a:cs typeface="Arial"/>
              </a:rPr>
              <a:t>KUTE</a:t>
            </a:r>
          </a:p>
        </p:txBody>
      </p:sp>
      <p:sp>
        <p:nvSpPr>
          <p:cNvPr id="2" name="">
            <a:extLst xmlns:a="http://schemas.openxmlformats.org/drawingml/2006/main">
              <a:ext uri="{FF2B5EF4-FFF2-40B4-BE49-F238E27FC236}">
                <a16:creationId xmlns:a16="http://schemas.microsoft.com/office/drawing/2014/main" id="{3CB73FCF-352C-47B5-A664-8BDF4B2D86B8}"/>
              </a:ext>
            </a:extLst>
          </p:cNvPr>
          <p:cNvSpPr>
            <a:spLocks xmlns:a="http://schemas.openxmlformats.org/drawingml/2006/main" noGrp="1"/>
          </p:cNvSpPr>
          <p:nvPr/>
        </p:nvSpPr>
        <p:spPr>
          <a:xfrm xmlns:a="http://schemas.openxmlformats.org/drawingml/2006/main">
            <a:off x="10572750" y="2667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02 / 06</a:t>
            </a:r>
          </a:p>
        </p:txBody>
      </p:sp>
      <p:sp>
        <p:nvSpPr>
          <p:cNvPr id="3" name="">
            <a:extLst xmlns:a="http://schemas.openxmlformats.org/drawingml/2006/main">
              <a:ext uri="{FF2B5EF4-FFF2-40B4-BE49-F238E27FC236}">
                <a16:creationId xmlns:a16="http://schemas.microsoft.com/office/drawing/2014/main" id="{092DB86F-8917-4E21-9B5E-D31134BF30DA}"/>
              </a:ext>
            </a:extLst>
          </p:cNvPr>
          <p:cNvSpPr>
            <a:spLocks xmlns:a="http://schemas.openxmlformats.org/drawingml/2006/main" noGrp="1"/>
          </p:cNvSpPr>
          <p:nvPr/>
        </p:nvSpPr>
        <p:spPr>
          <a:xfrm xmlns:a="http://schemas.openxmlformats.org/drawingml/2006/main">
            <a:off x="609600" y="88582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Vì sao chọn hỗ trợ kỹ thuật?</a:t>
            </a:r>
          </a:p>
        </p:txBody>
      </p:sp>
      <p:sp>
        <p:nvSpPr>
          <p:cNvPr id="4" name="">
            <a:extLst xmlns:a="http://schemas.openxmlformats.org/drawingml/2006/main">
              <a:ext uri="{FF2B5EF4-FFF2-40B4-BE49-F238E27FC236}">
                <a16:creationId xmlns:a16="http://schemas.microsoft.com/office/drawing/2014/main" id="{05C5BA36-59EE-46B0-B7FC-D27C8DF6B98C}"/>
              </a:ext>
            </a:extLst>
          </p:cNvPr>
          <p:cNvSpPr>
            <a:spLocks xmlns:a="http://schemas.openxmlformats.org/drawingml/2006/main" noGrp="1"/>
          </p:cNvSpPr>
          <p:nvPr/>
        </p:nvSpPr>
        <p:spPr>
          <a:xfrm xmlns:a="http://schemas.openxmlformats.org/drawingml/2006/main">
            <a:off x="609600" y="6391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8C5"/>
                </a:solidFill>
                <a:latin typeface="Arial"/>
                <a:ea typeface="Arial"/>
                <a:cs typeface="Arial"/>
              </a:defRPr>
            </a:pPr>
            <a:r>
              <a:rPr sz="1125" b="0">
                <a:solidFill>
                  <a:srgbClr val="AAB8C5"/>
                </a:solidFill>
                <a:latin typeface="Arial"/>
                <a:ea typeface="Arial"/>
                <a:cs typeface="Arial"/>
              </a:rPr>
              <a:t>Nguồn: eval/evidence.json; scripts/evidence.js. Số tin chứa từ khóa, các nhóm có thể chồng lắp.</a:t>
            </a:r>
          </a:p>
        </p:txBody>
      </p:sp>
      <p:graphicFrame>
        <p:nvGraphicFramePr>
          <p:cNvPr id="11" name=""/>
          <p:cNvGraphicFramePr/>
          <p:nvPr/>
        </p:nvGraphicFramePr>
        <p:xfrm>
          <a:off xmlns:a="http://schemas.openxmlformats.org/drawingml/2006/main" x="609600" y="2057400"/>
          <a:ext xmlns:a="http://schemas.openxmlformats.org/drawingml/2006/main" cx="10972800" cy="3181350"/>
        </p:xfrm>
        <a:graphic xmlns:a="http://schemas.openxmlformats.org/drawingml/2006/main">
          <a:graphicData uri="http://schemas.openxmlformats.org/drawingml/2006/table">
            <a:tbl>
              <a:tblPr/>
              <a:tblGrid>
                <a:gridCol w="3048000"/>
                <a:gridCol w="3762375"/>
                <a:gridCol w="4162425"/>
              </a:tblGrid>
              <a:tr h="552450">
                <a:tc>
                  <a:txBody>
                    <a:bodyPr/>
                    <a:lstStyle/>
                    <a:p>
                      <a:r>
                        <a:rPr sz="1725" b="1">
                          <a:solidFill>
                            <a:srgbClr val="AAB8C5"/>
                          </a:solidFill>
                          <a:latin typeface="Arial"/>
                          <a:ea typeface="Arial"/>
                          <a:cs typeface="Arial"/>
                        </a:rPr>
                        <a:t>Hướng cân nhắc</a:t>
                      </a:r>
                    </a:p>
                  </a:txBody>
                  <a:tcPr marL="91440" marR="91440" marT="45720" marB="45720">
                    <a:solidFill>
                      <a:srgbClr val="111820"/>
                    </a:solidFill>
                  </a:tcPr>
                </a:tc>
                <a:tc>
                  <a:txBody>
                    <a:bodyPr/>
                    <a:lstStyle/>
                    <a:p>
                      <a:r>
                        <a:rPr sz="1725" b="1">
                          <a:solidFill>
                            <a:srgbClr val="AAB8C5"/>
                          </a:solidFill>
                          <a:latin typeface="Arial"/>
                          <a:ea typeface="Arial"/>
                          <a:cs typeface="Arial"/>
                        </a:rPr>
                        <a:t>Bằng chứng</a:t>
                      </a:r>
                    </a:p>
                  </a:txBody>
                  <a:tcPr marL="91440" marR="91440" marT="45720" marB="45720">
                    <a:solidFill>
                      <a:srgbClr val="111820"/>
                    </a:solidFill>
                  </a:tcPr>
                </a:tc>
                <a:tc>
                  <a:txBody>
                    <a:bodyPr/>
                    <a:lstStyle/>
                    <a:p>
                      <a:r>
                        <a:rPr sz="1725" b="1">
                          <a:solidFill>
                            <a:srgbClr val="AAB8C5"/>
                          </a:solidFill>
                          <a:latin typeface="Arial"/>
                          <a:ea typeface="Arial"/>
                          <a:cs typeface="Arial"/>
                        </a:rPr>
                        <a:t>Khả năng triển khai</a:t>
                      </a:r>
                    </a:p>
                  </a:txBody>
                  <a:tcPr marL="91440" marR="91440" marT="45720" marB="45720">
                    <a:solidFill>
                      <a:srgbClr val="111820"/>
                    </a:solidFill>
                  </a:tcPr>
                </a:tc>
              </a:tr>
              <a:tr h="876300">
                <a:tc>
                  <a:txBody>
                    <a:bodyPr/>
                    <a:lstStyle/>
                    <a:p>
                      <a:r>
                        <a:rPr sz="1950" b="1">
                          <a:solidFill>
                            <a:srgbClr val="66E0B5"/>
                          </a:solidFill>
                          <a:latin typeface="Arial"/>
                          <a:ea typeface="Arial"/>
                          <a:cs typeface="Arial"/>
                        </a:rPr>
                        <a:t>Hỗ trợ kỹ thuật</a:t>
                      </a:r>
                    </a:p>
                  </a:txBody>
                  <a:tcPr marL="91440" marR="91440" marT="45720" marB="45720">
                    <a:solidFill>
                      <a:srgbClr val="183D35"/>
                    </a:solidFill>
                  </a:tcPr>
                </a:tc>
                <a:tc>
                  <a:txBody>
                    <a:bodyPr/>
                    <a:lstStyle/>
                    <a:p>
                      <a:r>
                        <a:rPr sz="1950" b="1">
                          <a:solidFill>
                            <a:srgbClr val="66E0B5"/>
                          </a:solidFill>
                          <a:latin typeface="Arial"/>
                          <a:ea typeface="Arial"/>
                          <a:cs typeface="Arial"/>
                        </a:rPr>
                        <a:t>21 tin CVAT / OPA / Docker</a:t>
                      </a:r>
                    </a:p>
                    <a:p>
                      <a:r>
                        <a:rPr sz="1950" b="1">
                          <a:solidFill>
                            <a:srgbClr val="66E0B5"/>
                          </a:solidFill>
                          <a:latin typeface="Arial"/>
                          <a:ea typeface="Arial"/>
                          <a:cs typeface="Arial"/>
                        </a:rPr>
                        <a:t>28 tin Phoenix</a:t>
                      </a:r>
                    </a:p>
                  </a:txBody>
                  <a:tcPr marL="91440" marR="91440" marT="45720" marB="45720">
                    <a:solidFill>
                      <a:srgbClr val="183D35"/>
                    </a:solidFill>
                  </a:tcPr>
                </a:tc>
                <a:tc>
                  <a:txBody>
                    <a:bodyPr/>
                    <a:lstStyle/>
                    <a:p>
                      <a:r>
                        <a:rPr sz="1950" b="1">
                          <a:solidFill>
                            <a:srgbClr val="66E0B5"/>
                          </a:solidFill>
                          <a:latin typeface="Arial"/>
                          <a:ea typeface="Arial"/>
                          <a:cs typeface="Arial"/>
                        </a:rPr>
                        <a:t>Có hướng dẫn cụ thể</a:t>
                      </a:r>
                    </a:p>
                    <a:p>
                      <a:r>
                        <a:rPr sz="1950" b="1">
                          <a:solidFill>
                            <a:srgbClr val="66E0B5"/>
                          </a:solidFill>
                          <a:latin typeface="Arial"/>
                          <a:ea typeface="Arial"/>
                          <a:cs typeface="Arial"/>
                        </a:rPr>
                        <a:t>để đối chiếu</a:t>
                      </a:r>
                    </a:p>
                  </a:txBody>
                  <a:tcPr marL="91440" marR="91440" marT="45720" marB="45720">
                    <a:solidFill>
                      <a:srgbClr val="183D35"/>
                    </a:solidFill>
                  </a:tcPr>
                </a:tc>
              </a:tr>
              <a:tr h="876300">
                <a:tc>
                  <a:txBody>
                    <a:bodyPr/>
                    <a:lstStyle/>
                    <a:p>
                      <a:r>
                        <a:rPr sz="1950" b="0">
                          <a:solidFill>
                            <a:srgbClr val="F3F6F7"/>
                          </a:solidFill>
                          <a:latin typeface="Arial"/>
                          <a:ea typeface="Arial"/>
                          <a:cs typeface="Arial"/>
                        </a:rPr>
                        <a:t>Điểm danh</a:t>
                      </a:r>
                    </a:p>
                  </a:txBody>
                  <a:tcPr marL="91440" marR="91440" marT="45720" marB="45720">
                    <a:solidFill>
                      <a:srgbClr val="111820"/>
                    </a:solidFill>
                  </a:tcPr>
                </a:tc>
                <a:tc>
                  <a:txBody>
                    <a:bodyPr/>
                    <a:lstStyle/>
                    <a:p>
                      <a:r>
                        <a:rPr sz="1950" b="0">
                          <a:solidFill>
                            <a:srgbClr val="F3F6F7"/>
                          </a:solidFill>
                          <a:latin typeface="Arial"/>
                          <a:ea typeface="Arial"/>
                          <a:cs typeface="Arial"/>
                        </a:rPr>
                        <a:t>49 tin điểm danh / Zoom</a:t>
                      </a:r>
                    </a:p>
                  </a:txBody>
                  <a:tcPr marL="91440" marR="91440" marT="45720" marB="45720">
                    <a:solidFill>
                      <a:srgbClr val="111820"/>
                    </a:solidFill>
                  </a:tcPr>
                </a:tc>
                <a:tc>
                  <a:txBody>
                    <a:bodyPr/>
                    <a:lstStyle/>
                    <a:p>
                      <a:r>
                        <a:rPr sz="1950" b="0">
                          <a:solidFill>
                            <a:srgbClr val="F3F6F7"/>
                          </a:solidFill>
                          <a:latin typeface="Arial"/>
                          <a:ea typeface="Arial"/>
                          <a:cs typeface="Arial"/>
                        </a:rPr>
                        <a:t>Thiếu hồ sơ</a:t>
                      </a:r>
                    </a:p>
                    <a:p>
                      <a:r>
                        <a:rPr sz="1950" b="0">
                          <a:solidFill>
                            <a:srgbClr val="F3F6F7"/>
                          </a:solidFill>
                          <a:latin typeface="Arial"/>
                          <a:ea typeface="Arial"/>
                          <a:cs typeface="Arial"/>
                        </a:rPr>
                        <a:t>điểm danh cá nhân</a:t>
                      </a:r>
                    </a:p>
                  </a:txBody>
                  <a:tcPr marL="91440" marR="91440" marT="45720" marB="45720">
                    <a:solidFill>
                      <a:srgbClr val="111820"/>
                    </a:solidFill>
                  </a:tcPr>
                </a:tc>
              </a:tr>
              <a:tr h="876300">
                <a:tc>
                  <a:txBody>
                    <a:bodyPr/>
                    <a:lstStyle/>
                    <a:p>
                      <a:r>
                        <a:rPr sz="1950" b="0">
                          <a:solidFill>
                            <a:srgbClr val="F3F6F7"/>
                          </a:solidFill>
                          <a:latin typeface="Arial"/>
                          <a:ea typeface="Arial"/>
                          <a:cs typeface="Arial"/>
                        </a:rPr>
                        <a:t>Standup và nhóm</a:t>
                      </a:r>
                    </a:p>
                  </a:txBody>
                  <a:tcPr marL="91440" marR="91440" marT="45720" marB="45720">
                    <a:solidFill>
                      <a:srgbClr val="111820"/>
                    </a:solidFill>
                  </a:tcPr>
                </a:tc>
                <a:tc>
                  <a:txBody>
                    <a:bodyPr/>
                    <a:lstStyle/>
                    <a:p>
                      <a:r>
                        <a:rPr sz="1950" b="0">
                          <a:solidFill>
                            <a:srgbClr val="F3F6F7"/>
                          </a:solidFill>
                          <a:latin typeface="Arial"/>
                          <a:ea typeface="Arial"/>
                          <a:cs typeface="Arial"/>
                        </a:rPr>
                        <a:t>58 tin Standup</a:t>
                      </a:r>
                    </a:p>
                    <a:p>
                      <a:r>
                        <a:rPr sz="1950" b="0">
                          <a:solidFill>
                            <a:srgbClr val="F3F6F7"/>
                          </a:solidFill>
                          <a:latin typeface="Arial"/>
                          <a:ea typeface="Arial"/>
                          <a:cs typeface="Arial"/>
                        </a:rPr>
                        <a:t>65 tin team</a:t>
                      </a:r>
                    </a:p>
                  </a:txBody>
                  <a:tcPr marL="91440" marR="91440" marT="45720" marB="45720">
                    <a:solidFill>
                      <a:srgbClr val="111820"/>
                    </a:solidFill>
                  </a:tcPr>
                </a:tc>
                <a:tc>
                  <a:txBody>
                    <a:bodyPr/>
                    <a:lstStyle/>
                    <a:p>
                      <a:r>
                        <a:rPr sz="1950" b="0">
                          <a:solidFill>
                            <a:srgbClr val="F3F6F7"/>
                          </a:solidFill>
                          <a:latin typeface="Arial"/>
                          <a:ea typeface="Arial"/>
                          <a:cs typeface="Arial"/>
                        </a:rPr>
                        <a:t>Cần xác minh quy định</a:t>
                      </a:r>
                    </a:p>
                    <a:p>
                      <a:r>
                        <a:rPr sz="1950" b="0">
                          <a:solidFill>
                            <a:srgbClr val="F3F6F7"/>
                          </a:solidFill>
                          <a:latin typeface="Arial"/>
                          <a:ea typeface="Arial"/>
                          <a:cs typeface="Arial"/>
                        </a:rPr>
                        <a:t>và quyền thao tác</a:t>
                      </a:r>
                    </a:p>
                  </a:txBody>
                  <a:tcPr marL="91440" marR="91440" marT="45720" marB="45720">
                    <a:solidFill>
                      <a:srgbClr val="111820"/>
                    </a:solidFill>
                  </a:tcPr>
                </a:tc>
              </a:tr>
            </a:tbl>
          </a:graphicData>
        </a:graphic>
      </p:graphicFrame>
      <p:sp>
        <p:nvSpPr>
          <p:cNvPr id="6" name="">
            <a:extLst xmlns:a="http://schemas.openxmlformats.org/drawingml/2006/main">
              <a:ext uri="{FF2B5EF4-FFF2-40B4-BE49-F238E27FC236}">
                <a16:creationId xmlns:a16="http://schemas.microsoft.com/office/drawing/2014/main" id="{FB41B215-DDE9-43C5-B6CF-FEDBD43BB6D7}"/>
              </a:ext>
            </a:extLst>
          </p:cNvPr>
          <p:cNvSpPr>
            <a:spLocks xmlns:a="http://schemas.openxmlformats.org/drawingml/2006/main" noGrp="1"/>
          </p:cNvSpPr>
          <p:nvPr/>
        </p:nvSpPr>
        <p:spPr>
          <a:xfrm xmlns:a="http://schemas.openxmlformats.org/drawingml/2006/main">
            <a:off x="609600" y="55911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6E0B5"/>
                </a:solidFill>
                <a:latin typeface="Arial"/>
                <a:ea typeface="Arial"/>
                <a:cs typeface="Arial"/>
              </a:defRPr>
            </a:pPr>
            <a:r>
              <a:rPr sz="2325" b="1">
                <a:solidFill>
                  <a:srgbClr val="66E0B5"/>
                </a:solidFill>
                <a:latin typeface="Arial"/>
                <a:ea typeface="Arial"/>
                <a:cs typeface="Arial"/>
              </a:rPr>
              <a:t>Đội chọn phạm vi có thể xây và kiểm chứng</a:t>
            </a:r>
          </a:p>
          <a:p xmlns:a="http://schemas.openxmlformats.org/drawingml/2006/main">
            <a:pPr>
              <a:defRPr sz="2325" b="1">
                <a:solidFill>
                  <a:srgbClr val="66E0B5"/>
                </a:solidFill>
                <a:latin typeface="Arial"/>
                <a:ea typeface="Arial"/>
                <a:cs typeface="Arial"/>
              </a:defRPr>
            </a:pPr>
            <a:r>
              <a:rPr sz="2325" b="1">
                <a:solidFill>
                  <a:srgbClr val="66E0B5"/>
                </a:solidFill>
                <a:latin typeface="Arial"/>
                <a:ea typeface="Arial"/>
                <a:cs typeface="Arial"/>
              </a:rPr>
              <a:t>trong thời gian hackathon.</a:t>
            </a:r>
          </a:p>
        </p:txBody>
      </p:sp>
    </p:spTree>
    <p:extLst>
      <p:ext uri="{BB962C8B-B14F-4D97-AF65-F5344CB8AC3E}">
        <p14:creationId xmlns:p14="http://schemas.microsoft.com/office/powerpoint/2010/main" val="1890685797"/>
      </p:ext>
    </p:extLst>
  </p:cSld>
</p:sld>
</file>

<file path=ppt/slides/slide3.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DFC05EB-3371-49B1-A8AF-57854E554948}"/>
              </a:ext>
            </a:extLst>
          </p:cNvPr>
          <p:cNvSpPr>
            <a:spLocks xmlns:a="http://schemas.openxmlformats.org/drawingml/2006/main" noGrp="1"/>
          </p:cNvSpPr>
          <p:nvPr/>
        </p:nvSpPr>
        <p:spPr>
          <a:xfrm xmlns:a="http://schemas.openxmlformats.org/drawingml/2006/main">
            <a:off x="609600" y="266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6E0B5"/>
                </a:solidFill>
                <a:latin typeface="Arial"/>
                <a:ea typeface="Arial"/>
                <a:cs typeface="Arial"/>
              </a:defRPr>
            </a:pPr>
            <a:r>
              <a:rPr sz="1350" b="1">
                <a:solidFill>
                  <a:srgbClr val="66E0B5"/>
                </a:solidFill>
                <a:latin typeface="Arial"/>
                <a:ea typeface="Arial"/>
                <a:cs typeface="Arial"/>
              </a:rPr>
              <a:t>KUTE</a:t>
            </a:r>
          </a:p>
        </p:txBody>
      </p:sp>
      <p:sp>
        <p:nvSpPr>
          <p:cNvPr id="2" name="">
            <a:extLst xmlns:a="http://schemas.openxmlformats.org/drawingml/2006/main">
              <a:ext uri="{FF2B5EF4-FFF2-40B4-BE49-F238E27FC236}">
                <a16:creationId xmlns:a16="http://schemas.microsoft.com/office/drawing/2014/main" id="{AB4AAA1F-12D1-4742-93DC-1BDEA7DEA089}"/>
              </a:ext>
            </a:extLst>
          </p:cNvPr>
          <p:cNvSpPr>
            <a:spLocks xmlns:a="http://schemas.openxmlformats.org/drawingml/2006/main" noGrp="1"/>
          </p:cNvSpPr>
          <p:nvPr/>
        </p:nvSpPr>
        <p:spPr>
          <a:xfrm xmlns:a="http://schemas.openxmlformats.org/drawingml/2006/main">
            <a:off x="10572750" y="2667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03 / 06</a:t>
            </a:r>
          </a:p>
        </p:txBody>
      </p:sp>
      <p:sp>
        <p:nvSpPr>
          <p:cNvPr id="3" name="">
            <a:extLst xmlns:a="http://schemas.openxmlformats.org/drawingml/2006/main">
              <a:ext uri="{FF2B5EF4-FFF2-40B4-BE49-F238E27FC236}">
                <a16:creationId xmlns:a16="http://schemas.microsoft.com/office/drawing/2014/main" id="{B1FE1F2E-F7DA-4437-B766-C9BD7DDDAAB1}"/>
              </a:ext>
            </a:extLst>
          </p:cNvPr>
          <p:cNvSpPr>
            <a:spLocks xmlns:a="http://schemas.openxmlformats.org/drawingml/2006/main" noGrp="1"/>
          </p:cNvSpPr>
          <p:nvPr/>
        </p:nvSpPr>
        <p:spPr>
          <a:xfrm xmlns:a="http://schemas.openxmlformats.org/drawingml/2006/main">
            <a:off x="609600" y="88582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Demo: trả lời có nguồn, hỏi lại khi cần</a:t>
            </a:r>
          </a:p>
        </p:txBody>
      </p:sp>
      <p:sp>
        <p:nvSpPr>
          <p:cNvPr id="4" name="">
            <a:extLst xmlns:a="http://schemas.openxmlformats.org/drawingml/2006/main">
              <a:ext uri="{FF2B5EF4-FFF2-40B4-BE49-F238E27FC236}">
                <a16:creationId xmlns:a16="http://schemas.microsoft.com/office/drawing/2014/main" id="{A3B2376B-6E8A-4E87-AE4A-A7D7A0A60D35}"/>
              </a:ext>
            </a:extLst>
          </p:cNvPr>
          <p:cNvSpPr>
            <a:spLocks xmlns:a="http://schemas.openxmlformats.org/drawingml/2006/main" noGrp="1"/>
          </p:cNvSpPr>
          <p:nvPr/>
        </p:nvSpPr>
        <p:spPr>
          <a:xfrm xmlns:a="http://schemas.openxmlformats.org/drawingml/2006/main">
            <a:off x="609600" y="6391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8C5"/>
                </a:solidFill>
                <a:latin typeface="Arial"/>
                <a:ea typeface="Arial"/>
                <a:cs typeface="Arial"/>
              </a:defRPr>
            </a:pPr>
            <a:r>
              <a:rPr sz="1125" b="0">
                <a:solidFill>
                  <a:srgbClr val="AAB8C5"/>
                </a:solidFill>
                <a:latin typeface="Arial"/>
                <a:ea typeface="Arial"/>
                <a:cs typeface="Arial"/>
              </a:rPr>
              <a:t>Nguồn: src/assistant.js; src/knowledge.js; src/discord.js. Demo trên giao diện web.</a:t>
            </a:r>
          </a:p>
        </p:txBody>
      </p:sp>
      <p:sp>
        <p:nvSpPr>
          <p:cNvPr id="5" name="">
            <a:extLst xmlns:a="http://schemas.openxmlformats.org/drawingml/2006/main">
              <a:ext uri="{FF2B5EF4-FFF2-40B4-BE49-F238E27FC236}">
                <a16:creationId xmlns:a16="http://schemas.microsoft.com/office/drawing/2014/main" id="{7B6EDE84-BC85-437A-8C97-3E522F7E9A26}"/>
              </a:ext>
            </a:extLst>
          </p:cNvPr>
          <p:cNvSpPr>
            <a:spLocks xmlns:a="http://schemas.openxmlformats.org/drawingml/2006/main" noGrp="1"/>
          </p:cNvSpPr>
          <p:nvPr/>
        </p:nvSpPr>
        <p:spPr>
          <a:xfrm xmlns:a="http://schemas.openxmlformats.org/drawingml/2006/main">
            <a:off x="609600" y="200977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6E0B5"/>
                </a:solidFill>
                <a:latin typeface="Arial"/>
                <a:ea typeface="Arial"/>
                <a:cs typeface="Arial"/>
              </a:defRPr>
            </a:pPr>
            <a:r>
              <a:rPr sz="2400" b="1">
                <a:solidFill>
                  <a:srgbClr val="66E0B5"/>
                </a:solidFill>
                <a:latin typeface="Arial"/>
                <a:ea typeface="Arial"/>
                <a:cs typeface="Arial"/>
              </a:rPr>
              <a:t>Có nguồn</a:t>
            </a:r>
          </a:p>
        </p:txBody>
      </p:sp>
      <p:sp>
        <p:nvSpPr>
          <p:cNvPr id="6" name="">
            <a:extLst xmlns:a="http://schemas.openxmlformats.org/drawingml/2006/main">
              <a:ext uri="{FF2B5EF4-FFF2-40B4-BE49-F238E27FC236}">
                <a16:creationId xmlns:a16="http://schemas.microsoft.com/office/drawing/2014/main" id="{D0EF3386-51F1-4182-9666-51FCF7E65D87}"/>
              </a:ext>
            </a:extLst>
          </p:cNvPr>
          <p:cNvSpPr>
            <a:spLocks xmlns:a="http://schemas.openxmlformats.org/drawingml/2006/main" noGrp="1"/>
          </p:cNvSpPr>
          <p:nvPr/>
        </p:nvSpPr>
        <p:spPr>
          <a:xfrm xmlns:a="http://schemas.openxmlformats.org/drawingml/2006/main">
            <a:off x="609600" y="25050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AB8C5"/>
                </a:solidFill>
                <a:latin typeface="Arial"/>
                <a:ea typeface="Arial"/>
                <a:cs typeface="Arial"/>
              </a:defRPr>
            </a:pPr>
            <a:r>
              <a:rPr sz="1875" b="0">
                <a:solidFill>
                  <a:srgbClr val="AAB8C5"/>
                </a:solidFill>
                <a:latin typeface="Arial"/>
                <a:ea typeface="Arial"/>
                <a:cs typeface="Arial"/>
              </a:rPr>
              <a:t>Trả lời và mở trích đoạn</a:t>
            </a:r>
          </a:p>
        </p:txBody>
      </p:sp>
      <p:sp>
        <p:nvSpPr>
          <p:cNvPr id="7" name="">
            <a:extLst xmlns:a="http://schemas.openxmlformats.org/drawingml/2006/main">
              <a:ext uri="{FF2B5EF4-FFF2-40B4-BE49-F238E27FC236}">
                <a16:creationId xmlns:a16="http://schemas.microsoft.com/office/drawing/2014/main" id="{6F28B0B6-84A8-4E14-A159-C91AB603ABA8}"/>
              </a:ext>
            </a:extLst>
          </p:cNvPr>
          <p:cNvSpPr>
            <a:spLocks xmlns:a="http://schemas.openxmlformats.org/drawingml/2006/main" noGrp="1"/>
          </p:cNvSpPr>
          <p:nvPr/>
        </p:nvSpPr>
        <p:spPr>
          <a:xfrm xmlns:a="http://schemas.openxmlformats.org/drawingml/2006/main">
            <a:off x="4352925" y="2009775"/>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3F6F7"/>
                </a:solidFill>
                <a:latin typeface="Arial"/>
                <a:ea typeface="Arial"/>
                <a:cs typeface="Arial"/>
              </a:defRPr>
            </a:pPr>
            <a:r>
              <a:rPr sz="2400" b="1">
                <a:solidFill>
                  <a:srgbClr val="F3F6F7"/>
                </a:solidFill>
                <a:latin typeface="Arial"/>
                <a:ea typeface="Arial"/>
                <a:cs typeface="Arial"/>
              </a:rPr>
              <a:t>Thiếu thông tin</a:t>
            </a:r>
          </a:p>
        </p:txBody>
      </p:sp>
      <p:sp>
        <p:nvSpPr>
          <p:cNvPr id="8" name="">
            <a:extLst xmlns:a="http://schemas.openxmlformats.org/drawingml/2006/main">
              <a:ext uri="{FF2B5EF4-FFF2-40B4-BE49-F238E27FC236}">
                <a16:creationId xmlns:a16="http://schemas.microsoft.com/office/drawing/2014/main" id="{928DDD98-8577-49A0-B9BF-618801B8E830}"/>
              </a:ext>
            </a:extLst>
          </p:cNvPr>
          <p:cNvSpPr>
            <a:spLocks xmlns:a="http://schemas.openxmlformats.org/drawingml/2006/main" noGrp="1"/>
          </p:cNvSpPr>
          <p:nvPr/>
        </p:nvSpPr>
        <p:spPr>
          <a:xfrm xmlns:a="http://schemas.openxmlformats.org/drawingml/2006/main">
            <a:off x="4352925" y="250507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AB8C5"/>
                </a:solidFill>
                <a:latin typeface="Arial"/>
                <a:ea typeface="Arial"/>
                <a:cs typeface="Arial"/>
              </a:defRPr>
            </a:pPr>
            <a:r>
              <a:rPr sz="1875" b="0">
                <a:solidFill>
                  <a:srgbClr val="AAB8C5"/>
                </a:solidFill>
                <a:latin typeface="Arial"/>
                <a:ea typeface="Arial"/>
                <a:cs typeface="Arial"/>
              </a:rPr>
              <a:t>Hỏi thêm về lỗi</a:t>
            </a:r>
          </a:p>
        </p:txBody>
      </p:sp>
      <p:sp>
        <p:nvSpPr>
          <p:cNvPr id="9" name="">
            <a:extLst xmlns:a="http://schemas.openxmlformats.org/drawingml/2006/main">
              <a:ext uri="{FF2B5EF4-FFF2-40B4-BE49-F238E27FC236}">
                <a16:creationId xmlns:a16="http://schemas.microsoft.com/office/drawing/2014/main" id="{22807A14-54ED-4EC5-886F-F023CB08F970}"/>
              </a:ext>
            </a:extLst>
          </p:cNvPr>
          <p:cNvSpPr>
            <a:spLocks xmlns:a="http://schemas.openxmlformats.org/drawingml/2006/main" noGrp="1"/>
          </p:cNvSpPr>
          <p:nvPr/>
        </p:nvSpPr>
        <p:spPr>
          <a:xfrm xmlns:a="http://schemas.openxmlformats.org/drawingml/2006/main">
            <a:off x="8105775" y="2009775"/>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C66D"/>
                </a:solidFill>
                <a:latin typeface="Arial"/>
                <a:ea typeface="Arial"/>
                <a:cs typeface="Arial"/>
              </a:defRPr>
            </a:pPr>
            <a:r>
              <a:rPr sz="2400" b="1">
                <a:solidFill>
                  <a:srgbClr val="FFC66D"/>
                </a:solidFill>
                <a:latin typeface="Arial"/>
                <a:ea typeface="Arial"/>
                <a:cs typeface="Arial"/>
              </a:rPr>
              <a:t>Ngoài phạm vi</a:t>
            </a:r>
          </a:p>
        </p:txBody>
      </p:sp>
      <p:sp>
        <p:nvSpPr>
          <p:cNvPr id="10" name="">
            <a:extLst xmlns:a="http://schemas.openxmlformats.org/drawingml/2006/main">
              <a:ext uri="{FF2B5EF4-FFF2-40B4-BE49-F238E27FC236}">
                <a16:creationId xmlns:a16="http://schemas.microsoft.com/office/drawing/2014/main" id="{10FCFF14-011A-46FC-9F47-0C06957EBC55}"/>
              </a:ext>
            </a:extLst>
          </p:cNvPr>
          <p:cNvSpPr>
            <a:spLocks xmlns:a="http://schemas.openxmlformats.org/drawingml/2006/main" noGrp="1"/>
          </p:cNvSpPr>
          <p:nvPr/>
        </p:nvSpPr>
        <p:spPr>
          <a:xfrm xmlns:a="http://schemas.openxmlformats.org/drawingml/2006/main">
            <a:off x="8105775" y="2505075"/>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AB8C5"/>
                </a:solidFill>
                <a:latin typeface="Arial"/>
                <a:ea typeface="Arial"/>
                <a:cs typeface="Arial"/>
              </a:defRPr>
            </a:pPr>
            <a:r>
              <a:rPr sz="1875" b="0">
                <a:solidFill>
                  <a:srgbClr val="AAB8C5"/>
                </a:solidFill>
                <a:latin typeface="Arial"/>
                <a:ea typeface="Arial"/>
                <a:cs typeface="Arial"/>
              </a:rPr>
              <a:t>Cho người học chuyển TA</a:t>
            </a:r>
          </a:p>
        </p:txBody>
      </p:sp>
      <p:sp>
        <p:nvSpPr>
          <p:cNvPr id="11" name="">
            <a:extLst xmlns:a="http://schemas.openxmlformats.org/drawingml/2006/main">
              <a:ext uri="{FF2B5EF4-FFF2-40B4-BE49-F238E27FC236}">
                <a16:creationId xmlns:a16="http://schemas.microsoft.com/office/drawing/2014/main" id="{F53E896C-C39C-4416-8C06-3B0E7F6F25F2}"/>
              </a:ext>
            </a:extLst>
          </p:cNvPr>
          <p:cNvSpPr>
            <a:spLocks xmlns:a="http://schemas.openxmlformats.org/drawingml/2006/main" noGrp="1"/>
          </p:cNvSpPr>
          <p:nvPr/>
        </p:nvSpPr>
        <p:spPr>
          <a:xfrm xmlns:a="http://schemas.openxmlformats.org/drawingml/2006/main">
            <a:off x="609600" y="3448050"/>
            <a:ext cx="314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66E0B5"/>
                </a:solidFill>
                <a:latin typeface="Arial"/>
                <a:ea typeface="Arial"/>
                <a:cs typeface="Arial"/>
              </a:defRPr>
            </a:pPr>
            <a:r>
              <a:rPr sz="1425" b="1">
                <a:solidFill>
                  <a:srgbClr val="66E0B5"/>
                </a:solidFill>
                <a:latin typeface="Arial"/>
                <a:ea typeface="Arial"/>
                <a:cs typeface="Arial"/>
              </a:rPr>
              <a:t>CA CÓ NGUỒN</a:t>
            </a:r>
          </a:p>
        </p:txBody>
      </p:sp>
      <p:sp>
        <p:nvSpPr>
          <p:cNvPr id="12" name="">
            <a:extLst xmlns:a="http://schemas.openxmlformats.org/drawingml/2006/main">
              <a:ext uri="{FF2B5EF4-FFF2-40B4-BE49-F238E27FC236}">
                <a16:creationId xmlns:a16="http://schemas.microsoft.com/office/drawing/2014/main" id="{7B129113-9DE4-412D-9780-7D40ABB2AB88}"/>
              </a:ext>
            </a:extLst>
          </p:cNvPr>
          <p:cNvSpPr>
            <a:spLocks xmlns:a="http://schemas.openxmlformats.org/drawingml/2006/main" noGrp="1"/>
          </p:cNvSpPr>
          <p:nvPr/>
        </p:nvSpPr>
        <p:spPr>
          <a:xfrm xmlns:a="http://schemas.openxmlformats.org/drawingml/2006/main">
            <a:off x="609600" y="38862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6F7"/>
                </a:solidFill>
                <a:latin typeface="Arial"/>
                <a:ea typeface="Arial"/>
                <a:cs typeface="Arial"/>
              </a:defRPr>
            </a:pPr>
            <a:r>
              <a:rPr sz="2250" b="1">
                <a:solidFill>
                  <a:srgbClr val="F3F6F7"/>
                </a:solidFill>
                <a:latin typeface="Arial"/>
                <a:ea typeface="Arial"/>
                <a:cs typeface="Arial"/>
              </a:rPr>
              <a:t>CVAT OPA báo 500 health bundles</a:t>
            </a:r>
          </a:p>
          <a:p xmlns:a="http://schemas.openxmlformats.org/drawingml/2006/main">
            <a:pPr>
              <a:defRPr sz="2250" b="1">
                <a:solidFill>
                  <a:srgbClr val="F3F6F7"/>
                </a:solidFill>
                <a:latin typeface="Arial"/>
                <a:ea typeface="Arial"/>
                <a:cs typeface="Arial"/>
              </a:defRPr>
            </a:pPr>
            <a:r>
              <a:rPr sz="2250" b="1">
                <a:solidFill>
                  <a:srgbClr val="F3F6F7"/>
                </a:solidFill>
                <a:latin typeface="Arial"/>
                <a:ea typeface="Arial"/>
                <a:cs typeface="Arial"/>
              </a:rPr>
              <a:t>ngay sau docker compose up -d.</a:t>
            </a:r>
          </a:p>
        </p:txBody>
      </p:sp>
      <p:sp>
        <p:nvSpPr>
          <p:cNvPr id="13" name="">
            <a:extLst xmlns:a="http://schemas.openxmlformats.org/drawingml/2006/main">
              <a:ext uri="{FF2B5EF4-FFF2-40B4-BE49-F238E27FC236}">
                <a16:creationId xmlns:a16="http://schemas.microsoft.com/office/drawing/2014/main" id="{467B4CDB-6A39-4AA8-B107-0A40B9F973F4}"/>
              </a:ext>
            </a:extLst>
          </p:cNvPr>
          <p:cNvSpPr>
            <a:spLocks xmlns:a="http://schemas.openxmlformats.org/drawingml/2006/main" noGrp="1"/>
          </p:cNvSpPr>
          <p:nvPr/>
        </p:nvSpPr>
        <p:spPr>
          <a:xfrm xmlns:a="http://schemas.openxmlformats.org/drawingml/2006/main">
            <a:off x="609600" y="50577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AB8C5"/>
                </a:solidFill>
                <a:latin typeface="Arial"/>
                <a:ea typeface="Arial"/>
                <a:cs typeface="Arial"/>
              </a:defRPr>
            </a:pPr>
            <a:r>
              <a:rPr sz="1800" b="0">
                <a:solidFill>
                  <a:srgbClr val="AAB8C5"/>
                </a:solidFill>
                <a:latin typeface="Arial"/>
                <a:ea typeface="Arial"/>
                <a:cs typeface="Arial"/>
              </a:rPr>
              <a:t>Đối chiếu trích đoạn M12802</a:t>
            </a:r>
          </a:p>
        </p:txBody>
      </p:sp>
      <p:sp>
        <p:nvSpPr>
          <p:cNvPr id="14" name="">
            <a:extLst xmlns:a="http://schemas.openxmlformats.org/drawingml/2006/main">
              <a:ext uri="{FF2B5EF4-FFF2-40B4-BE49-F238E27FC236}">
                <a16:creationId xmlns:a16="http://schemas.microsoft.com/office/drawing/2014/main" id="{328CB59E-50C7-4F44-8703-919B618E97AF}"/>
              </a:ext>
            </a:extLst>
          </p:cNvPr>
          <p:cNvSpPr>
            <a:spLocks xmlns:a="http://schemas.openxmlformats.org/drawingml/2006/main" noGrp="1"/>
          </p:cNvSpPr>
          <p:nvPr/>
        </p:nvSpPr>
        <p:spPr>
          <a:xfrm xmlns:a="http://schemas.openxmlformats.org/drawingml/2006/main">
            <a:off x="6524625" y="3448050"/>
            <a:ext cx="504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C66D"/>
                </a:solidFill>
                <a:latin typeface="Arial"/>
                <a:ea typeface="Arial"/>
                <a:cs typeface="Arial"/>
              </a:defRPr>
            </a:pPr>
            <a:r>
              <a:rPr sz="1425" b="1">
                <a:solidFill>
                  <a:srgbClr val="FFC66D"/>
                </a:solidFill>
                <a:latin typeface="Arial"/>
                <a:ea typeface="Arial"/>
                <a:cs typeface="Arial"/>
              </a:rPr>
              <a:t>CA NGOÀI THẨM QUYỀN</a:t>
            </a:r>
          </a:p>
        </p:txBody>
      </p:sp>
      <p:sp>
        <p:nvSpPr>
          <p:cNvPr id="15" name="">
            <a:extLst xmlns:a="http://schemas.openxmlformats.org/drawingml/2006/main">
              <a:ext uri="{FF2B5EF4-FFF2-40B4-BE49-F238E27FC236}">
                <a16:creationId xmlns:a16="http://schemas.microsoft.com/office/drawing/2014/main" id="{53E45A08-C1F5-4091-A1C0-F4C1EC1F89B7}"/>
              </a:ext>
            </a:extLst>
          </p:cNvPr>
          <p:cNvSpPr>
            <a:spLocks xmlns:a="http://schemas.openxmlformats.org/drawingml/2006/main" noGrp="1"/>
          </p:cNvSpPr>
          <p:nvPr/>
        </p:nvSpPr>
        <p:spPr>
          <a:xfrm xmlns:a="http://schemas.openxmlformats.org/drawingml/2006/main">
            <a:off x="6524625" y="388620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6F7"/>
                </a:solidFill>
                <a:latin typeface="Arial"/>
                <a:ea typeface="Arial"/>
                <a:cs typeface="Arial"/>
              </a:defRPr>
            </a:pPr>
            <a:r>
              <a:rPr sz="2250" b="1">
                <a:solidFill>
                  <a:srgbClr val="F3F6F7"/>
                </a:solidFill>
                <a:latin typeface="Arial"/>
                <a:ea typeface="Arial"/>
                <a:cs typeface="Arial"/>
              </a:rPr>
              <a:t>Xin gia hạn bài CVAT</a:t>
            </a:r>
          </a:p>
          <a:p xmlns:a="http://schemas.openxmlformats.org/drawingml/2006/main">
            <a:pPr>
              <a:defRPr sz="2250" b="1">
                <a:solidFill>
                  <a:srgbClr val="F3F6F7"/>
                </a:solidFill>
                <a:latin typeface="Arial"/>
                <a:ea typeface="Arial"/>
                <a:cs typeface="Arial"/>
              </a:defRPr>
            </a:pPr>
            <a:r>
              <a:rPr sz="2250" b="1">
                <a:solidFill>
                  <a:srgbClr val="F3F6F7"/>
                </a:solidFill>
                <a:latin typeface="Arial"/>
                <a:ea typeface="Arial"/>
                <a:cs typeface="Arial"/>
              </a:rPr>
              <a:t>health check cho em.</a:t>
            </a:r>
          </a:p>
        </p:txBody>
      </p:sp>
      <p:sp>
        <p:nvSpPr>
          <p:cNvPr id="16" name="">
            <a:extLst xmlns:a="http://schemas.openxmlformats.org/drawingml/2006/main">
              <a:ext uri="{FF2B5EF4-FFF2-40B4-BE49-F238E27FC236}">
                <a16:creationId xmlns:a16="http://schemas.microsoft.com/office/drawing/2014/main" id="{1CCAD64F-2042-4ABD-BA0E-3E849E51C0DC}"/>
              </a:ext>
            </a:extLst>
          </p:cNvPr>
          <p:cNvSpPr>
            <a:spLocks xmlns:a="http://schemas.openxmlformats.org/drawingml/2006/main" noGrp="1"/>
          </p:cNvSpPr>
          <p:nvPr/>
        </p:nvSpPr>
        <p:spPr>
          <a:xfrm xmlns:a="http://schemas.openxmlformats.org/drawingml/2006/main">
            <a:off x="6524625" y="50577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AB8C5"/>
                </a:solidFill>
                <a:latin typeface="Arial"/>
                <a:ea typeface="Arial"/>
                <a:cs typeface="Arial"/>
              </a:defRPr>
            </a:pPr>
            <a:r>
              <a:rPr sz="1800" b="0">
                <a:solidFill>
                  <a:srgbClr val="AAB8C5"/>
                </a:solidFill>
                <a:latin typeface="Arial"/>
                <a:ea typeface="Arial"/>
                <a:cs typeface="Arial"/>
              </a:rPr>
              <a:t>Không tự gia hạn, cho lưu ticket TA</a:t>
            </a:r>
          </a:p>
        </p:txBody>
      </p:sp>
      <p:sp>
        <p:nvSpPr>
          <p:cNvPr id="17" name="">
            <a:extLst xmlns:a="http://schemas.openxmlformats.org/drawingml/2006/main">
              <a:ext uri="{FF2B5EF4-FFF2-40B4-BE49-F238E27FC236}">
                <a16:creationId xmlns:a16="http://schemas.microsoft.com/office/drawing/2014/main" id="{C3EA07E2-B19B-426A-80B8-2D1A69CC36C8}"/>
              </a:ext>
            </a:extLst>
          </p:cNvPr>
          <p:cNvSpPr>
            <a:spLocks xmlns:a="http://schemas.openxmlformats.org/drawingml/2006/main" noGrp="1"/>
          </p:cNvSpPr>
          <p:nvPr/>
        </p:nvSpPr>
        <p:spPr>
          <a:xfrm xmlns:a="http://schemas.openxmlformats.org/drawingml/2006/main">
            <a:off x="609600" y="58959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C66D"/>
                </a:solidFill>
                <a:latin typeface="Arial"/>
                <a:ea typeface="Arial"/>
                <a:cs typeface="Arial"/>
              </a:defRPr>
            </a:pPr>
            <a:r>
              <a:rPr sz="1800" b="0">
                <a:solidFill>
                  <a:srgbClr val="FFC66D"/>
                </a:solidFill>
                <a:latin typeface="Arial"/>
                <a:ea typeface="Arial"/>
                <a:cs typeface="Arial"/>
              </a:rPr>
              <a:t>4 trích đoạn nguồn. Web gọi AI thật. Ticket demo lưu local.</a:t>
            </a:r>
          </a:p>
        </p:txBody>
      </p:sp>
    </p:spTree>
    <p:extLst>
      <p:ext uri="{BB962C8B-B14F-4D97-AF65-F5344CB8AC3E}">
        <p14:creationId xmlns:p14="http://schemas.microsoft.com/office/powerpoint/2010/main" val="937767746"/>
      </p:ext>
    </p:extLst>
  </p:cSld>
</p:sld>
</file>

<file path=ppt/slides/slide4.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818E5B-34FE-4660-B2A2-D18933A525D1}"/>
              </a:ext>
            </a:extLst>
          </p:cNvPr>
          <p:cNvSpPr>
            <a:spLocks xmlns:a="http://schemas.openxmlformats.org/drawingml/2006/main" noGrp="1"/>
          </p:cNvSpPr>
          <p:nvPr/>
        </p:nvSpPr>
        <p:spPr>
          <a:xfrm xmlns:a="http://schemas.openxmlformats.org/drawingml/2006/main">
            <a:off x="609600" y="266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6E0B5"/>
                </a:solidFill>
                <a:latin typeface="Arial"/>
                <a:ea typeface="Arial"/>
                <a:cs typeface="Arial"/>
              </a:defRPr>
            </a:pPr>
            <a:r>
              <a:rPr sz="1350" b="1">
                <a:solidFill>
                  <a:srgbClr val="66E0B5"/>
                </a:solidFill>
                <a:latin typeface="Arial"/>
                <a:ea typeface="Arial"/>
                <a:cs typeface="Arial"/>
              </a:rPr>
              <a:t>KUTE</a:t>
            </a:r>
          </a:p>
        </p:txBody>
      </p:sp>
      <p:sp>
        <p:nvSpPr>
          <p:cNvPr id="2" name="">
            <a:extLst xmlns:a="http://schemas.openxmlformats.org/drawingml/2006/main">
              <a:ext uri="{FF2B5EF4-FFF2-40B4-BE49-F238E27FC236}">
                <a16:creationId xmlns:a16="http://schemas.microsoft.com/office/drawing/2014/main" id="{0C439EC1-D46F-400A-9A2D-AAA85B1FEE88}"/>
              </a:ext>
            </a:extLst>
          </p:cNvPr>
          <p:cNvSpPr>
            <a:spLocks xmlns:a="http://schemas.openxmlformats.org/drawingml/2006/main" noGrp="1"/>
          </p:cNvSpPr>
          <p:nvPr/>
        </p:nvSpPr>
        <p:spPr>
          <a:xfrm xmlns:a="http://schemas.openxmlformats.org/drawingml/2006/main">
            <a:off x="10572750" y="2667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04 / 06</a:t>
            </a:r>
          </a:p>
        </p:txBody>
      </p:sp>
      <p:sp>
        <p:nvSpPr>
          <p:cNvPr id="3" name="">
            <a:extLst xmlns:a="http://schemas.openxmlformats.org/drawingml/2006/main">
              <a:ext uri="{FF2B5EF4-FFF2-40B4-BE49-F238E27FC236}">
                <a16:creationId xmlns:a16="http://schemas.microsoft.com/office/drawing/2014/main" id="{79D058C4-E1E8-4FAB-9613-00BBED94AFB0}"/>
              </a:ext>
            </a:extLst>
          </p:cNvPr>
          <p:cNvSpPr>
            <a:spLocks xmlns:a="http://schemas.openxmlformats.org/drawingml/2006/main" noGrp="1"/>
          </p:cNvSpPr>
          <p:nvPr/>
        </p:nvSpPr>
        <p:spPr>
          <a:xfrm xmlns:a="http://schemas.openxmlformats.org/drawingml/2006/main">
            <a:off x="609600" y="88582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Kết quả trên 20 câu kiểm thử</a:t>
            </a:r>
          </a:p>
        </p:txBody>
      </p:sp>
      <p:sp>
        <p:nvSpPr>
          <p:cNvPr id="4" name="">
            <a:extLst xmlns:a="http://schemas.openxmlformats.org/drawingml/2006/main">
              <a:ext uri="{FF2B5EF4-FFF2-40B4-BE49-F238E27FC236}">
                <a16:creationId xmlns:a16="http://schemas.microsoft.com/office/drawing/2014/main" id="{DD34B6A9-A5A7-4C0F-8BFE-C3C006800586}"/>
              </a:ext>
            </a:extLst>
          </p:cNvPr>
          <p:cNvSpPr>
            <a:spLocks xmlns:a="http://schemas.openxmlformats.org/drawingml/2006/main" noGrp="1"/>
          </p:cNvSpPr>
          <p:nvPr/>
        </p:nvSpPr>
        <p:spPr>
          <a:xfrm xmlns:a="http://schemas.openxmlformats.org/drawingml/2006/main">
            <a:off x="609600" y="6391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8C5"/>
                </a:solidFill>
                <a:latin typeface="Arial"/>
                <a:ea typeface="Arial"/>
                <a:cs typeface="Arial"/>
              </a:defRPr>
            </a:pPr>
            <a:r>
              <a:rPr sz="1125" b="0">
                <a:solidFill>
                  <a:srgbClr val="AAB8C5"/>
                </a:solidFill>
                <a:latin typeface="Arial"/>
                <a:ea typeface="Arial"/>
                <a:cs typeface="Arial"/>
              </a:rPr>
              <a:t>Nguồn: eval/results-live.json, 17/09/2026; scripts/evaluate.js; spec.md §7. Bộ câu hỏi do đội tự xây.</a:t>
            </a:r>
          </a:p>
        </p:txBody>
      </p:sp>
      <p:sp>
        <p:nvSpPr>
          <p:cNvPr id="5" name="">
            <a:extLst xmlns:a="http://schemas.openxmlformats.org/drawingml/2006/main">
              <a:ext uri="{FF2B5EF4-FFF2-40B4-BE49-F238E27FC236}">
                <a16:creationId xmlns:a16="http://schemas.microsoft.com/office/drawing/2014/main" id="{69BAEBD5-FB08-4BFB-8ADB-C532CD1B6969}"/>
              </a:ext>
            </a:extLst>
          </p:cNvPr>
          <p:cNvSpPr>
            <a:spLocks xmlns:a="http://schemas.openxmlformats.org/drawingml/2006/main" noGrp="1"/>
          </p:cNvSpPr>
          <p:nvPr/>
        </p:nvSpPr>
        <p:spPr>
          <a:xfrm xmlns:a="http://schemas.openxmlformats.org/drawingml/2006/main">
            <a:off x="609600" y="2009775"/>
            <a:ext cx="61912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66E0B5"/>
                </a:solidFill>
                <a:latin typeface="Arial"/>
                <a:ea typeface="Arial"/>
                <a:cs typeface="Arial"/>
              </a:defRPr>
            </a:pPr>
            <a:r>
              <a:rPr sz="7800" b="1">
                <a:solidFill>
                  <a:srgbClr val="66E0B5"/>
                </a:solidFill>
                <a:latin typeface="Arial"/>
                <a:ea typeface="Arial"/>
                <a:cs typeface="Arial"/>
              </a:rPr>
              <a:t>20/20</a:t>
            </a:r>
          </a:p>
        </p:txBody>
      </p:sp>
      <p:sp>
        <p:nvSpPr>
          <p:cNvPr id="6" name="">
            <a:extLst xmlns:a="http://schemas.openxmlformats.org/drawingml/2006/main">
              <a:ext uri="{FF2B5EF4-FFF2-40B4-BE49-F238E27FC236}">
                <a16:creationId xmlns:a16="http://schemas.microsoft.com/office/drawing/2014/main" id="{E597EC7E-3074-4FE7-8C2D-417D62EDB3FD}"/>
              </a:ext>
            </a:extLst>
          </p:cNvPr>
          <p:cNvSpPr>
            <a:spLocks xmlns:a="http://schemas.openxmlformats.org/drawingml/2006/main" noGrp="1"/>
          </p:cNvSpPr>
          <p:nvPr/>
        </p:nvSpPr>
        <p:spPr>
          <a:xfrm xmlns:a="http://schemas.openxmlformats.org/drawingml/2006/main">
            <a:off x="609600" y="3457575"/>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3F6F7"/>
                </a:solidFill>
                <a:latin typeface="Arial"/>
                <a:ea typeface="Arial"/>
                <a:cs typeface="Arial"/>
              </a:defRPr>
            </a:pPr>
            <a:r>
              <a:rPr sz="2400" b="1">
                <a:solidFill>
                  <a:srgbClr val="F3F6F7"/>
                </a:solidFill>
                <a:latin typeface="Arial"/>
                <a:ea typeface="Arial"/>
                <a:cs typeface="Arial"/>
              </a:rPr>
              <a:t>Đúng nhánh xử lý</a:t>
            </a:r>
          </a:p>
          <a:p xmlns:a="http://schemas.openxmlformats.org/drawingml/2006/main">
            <a:pPr>
              <a:defRPr sz="2400" b="1">
                <a:solidFill>
                  <a:srgbClr val="F3F6F7"/>
                </a:solidFill>
                <a:latin typeface="Arial"/>
                <a:ea typeface="Arial"/>
                <a:cs typeface="Arial"/>
              </a:defRPr>
            </a:pPr>
            <a:r>
              <a:rPr sz="2400" b="1">
                <a:solidFill>
                  <a:srgbClr val="F3F6F7"/>
                </a:solidFill>
                <a:latin typeface="Arial"/>
                <a:ea typeface="Arial"/>
                <a:cs typeface="Arial"/>
              </a:rPr>
              <a:t>và mã trích đoạn kỳ vọng</a:t>
            </a:r>
          </a:p>
        </p:txBody>
      </p:sp>
      <p:sp>
        <p:nvSpPr>
          <p:cNvPr id="7" name="">
            <a:extLst xmlns:a="http://schemas.openxmlformats.org/drawingml/2006/main">
              <a:ext uri="{FF2B5EF4-FFF2-40B4-BE49-F238E27FC236}">
                <a16:creationId xmlns:a16="http://schemas.microsoft.com/office/drawing/2014/main" id="{3C165672-FBAF-4564-8036-57E0E19E114C}"/>
              </a:ext>
            </a:extLst>
          </p:cNvPr>
          <p:cNvSpPr>
            <a:spLocks xmlns:a="http://schemas.openxmlformats.org/drawingml/2006/main" noGrp="1"/>
          </p:cNvSpPr>
          <p:nvPr/>
        </p:nvSpPr>
        <p:spPr>
          <a:xfrm xmlns:a="http://schemas.openxmlformats.org/drawingml/2006/main">
            <a:off x="609600" y="4610100"/>
            <a:ext cx="633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8 trả lời có nguồn</a:t>
            </a:r>
          </a:p>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4 hỏi làm rõ</a:t>
            </a:r>
          </a:p>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8 ngoài phạm vi / thiếu nguồn</a:t>
            </a:r>
          </a:p>
        </p:txBody>
      </p:sp>
      <p:sp>
        <p:nvSpPr>
          <p:cNvPr id="8" name="">
            <a:extLst xmlns:a="http://schemas.openxmlformats.org/drawingml/2006/main">
              <a:ext uri="{FF2B5EF4-FFF2-40B4-BE49-F238E27FC236}">
                <a16:creationId xmlns:a16="http://schemas.microsoft.com/office/drawing/2014/main" id="{2A8BDE7F-98B9-46CB-9F07-DA705A7BE4E3}"/>
              </a:ext>
            </a:extLst>
          </p:cNvPr>
          <p:cNvSpPr>
            <a:spLocks xmlns:a="http://schemas.openxmlformats.org/drawingml/2006/main" noGrp="1"/>
          </p:cNvSpPr>
          <p:nvPr/>
        </p:nvSpPr>
        <p:spPr>
          <a:xfrm xmlns:a="http://schemas.openxmlformats.org/drawingml/2006/main">
            <a:off x="8048625" y="2105025"/>
            <a:ext cx="333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3F6F7"/>
                </a:solidFill>
                <a:latin typeface="Arial"/>
                <a:ea typeface="Arial"/>
                <a:cs typeface="Arial"/>
              </a:defRPr>
            </a:pPr>
            <a:r>
              <a:rPr sz="5700" b="1">
                <a:solidFill>
                  <a:srgbClr val="F3F6F7"/>
                </a:solidFill>
                <a:latin typeface="Arial"/>
                <a:ea typeface="Arial"/>
                <a:cs typeface="Arial"/>
              </a:rPr>
              <a:t>8/8</a:t>
            </a:r>
          </a:p>
        </p:txBody>
      </p:sp>
      <p:sp>
        <p:nvSpPr>
          <p:cNvPr id="9" name="">
            <a:extLst xmlns:a="http://schemas.openxmlformats.org/drawingml/2006/main">
              <a:ext uri="{FF2B5EF4-FFF2-40B4-BE49-F238E27FC236}">
                <a16:creationId xmlns:a16="http://schemas.microsoft.com/office/drawing/2014/main" id="{29251264-0900-402C-8169-BA75A0C7664B}"/>
              </a:ext>
            </a:extLst>
          </p:cNvPr>
          <p:cNvSpPr>
            <a:spLocks xmlns:a="http://schemas.openxmlformats.org/drawingml/2006/main" noGrp="1"/>
          </p:cNvSpPr>
          <p:nvPr/>
        </p:nvSpPr>
        <p:spPr>
          <a:xfrm xmlns:a="http://schemas.openxmlformats.org/drawingml/2006/main">
            <a:off x="8048625" y="3276600"/>
            <a:ext cx="338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ca cần AI có phản hồi thật</a:t>
            </a:r>
          </a:p>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trong tổng 20 câu</a:t>
            </a:r>
          </a:p>
        </p:txBody>
      </p:sp>
      <p:sp>
        <p:nvSpPr>
          <p:cNvPr id="10" name="">
            <a:extLst xmlns:a="http://schemas.openxmlformats.org/drawingml/2006/main">
              <a:ext uri="{FF2B5EF4-FFF2-40B4-BE49-F238E27FC236}">
                <a16:creationId xmlns:a16="http://schemas.microsoft.com/office/drawing/2014/main" id="{12FF35E5-8880-4A5B-A0D6-9714C48CCF74}"/>
              </a:ext>
            </a:extLst>
          </p:cNvPr>
          <p:cNvSpPr>
            <a:spLocks xmlns:a="http://schemas.openxmlformats.org/drawingml/2006/main" noGrp="1"/>
          </p:cNvSpPr>
          <p:nvPr/>
        </p:nvSpPr>
        <p:spPr>
          <a:xfrm xmlns:a="http://schemas.openxmlformats.org/drawingml/2006/main">
            <a:off x="7334250" y="4733925"/>
            <a:ext cx="4286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C66D"/>
                </a:solidFill>
                <a:latin typeface="Arial"/>
                <a:ea typeface="Arial"/>
                <a:cs typeface="Arial"/>
              </a:defRPr>
            </a:pPr>
            <a:r>
              <a:rPr sz="1950" b="0">
                <a:solidFill>
                  <a:srgbClr val="FFC66D"/>
                </a:solidFill>
                <a:latin typeface="Arial"/>
                <a:ea typeface="Arial"/>
                <a:cs typeface="Arial"/>
              </a:rPr>
              <a:t>Chuẩn: ≥85% đúng nhánh và nguồn.</a:t>
            </a:r>
          </a:p>
          <a:p xmlns:a="http://schemas.openxmlformats.org/drawingml/2006/main">
            <a:pPr>
              <a:defRPr sz="1950" b="0">
                <a:solidFill>
                  <a:srgbClr val="FFC66D"/>
                </a:solidFill>
                <a:latin typeface="Arial"/>
                <a:ea typeface="Arial"/>
                <a:cs typeface="Arial"/>
              </a:defRPr>
            </a:pPr>
            <a:r>
              <a:rPr sz="1950" b="0">
                <a:solidFill>
                  <a:srgbClr val="FFC66D"/>
                </a:solidFill>
                <a:latin typeface="Arial"/>
                <a:ea typeface="Arial"/>
                <a:cs typeface="Arial"/>
              </a:rPr>
              <a:t>Chưa đủ bằng chứng về điều kiện không bịa.</a:t>
            </a:r>
          </a:p>
        </p:txBody>
      </p:sp>
    </p:spTree>
    <p:extLst>
      <p:ext uri="{BB962C8B-B14F-4D97-AF65-F5344CB8AC3E}">
        <p14:creationId xmlns:p14="http://schemas.microsoft.com/office/powerpoint/2010/main" val="419419583"/>
      </p:ext>
    </p:extLst>
  </p:cSld>
</p:sld>
</file>

<file path=ppt/slides/slide5.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8A8AB7-DA9C-42E8-BC49-F3B6D739B36E}"/>
              </a:ext>
            </a:extLst>
          </p:cNvPr>
          <p:cNvSpPr>
            <a:spLocks xmlns:a="http://schemas.openxmlformats.org/drawingml/2006/main" noGrp="1"/>
          </p:cNvSpPr>
          <p:nvPr/>
        </p:nvSpPr>
        <p:spPr>
          <a:xfrm xmlns:a="http://schemas.openxmlformats.org/drawingml/2006/main">
            <a:off x="609600" y="266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6E0B5"/>
                </a:solidFill>
                <a:latin typeface="Arial"/>
                <a:ea typeface="Arial"/>
                <a:cs typeface="Arial"/>
              </a:defRPr>
            </a:pPr>
            <a:r>
              <a:rPr sz="1350" b="1">
                <a:solidFill>
                  <a:srgbClr val="66E0B5"/>
                </a:solidFill>
                <a:latin typeface="Arial"/>
                <a:ea typeface="Arial"/>
                <a:cs typeface="Arial"/>
              </a:rPr>
              <a:t>KUTE</a:t>
            </a:r>
          </a:p>
        </p:txBody>
      </p:sp>
      <p:sp>
        <p:nvSpPr>
          <p:cNvPr id="2" name="">
            <a:extLst xmlns:a="http://schemas.openxmlformats.org/drawingml/2006/main">
              <a:ext uri="{FF2B5EF4-FFF2-40B4-BE49-F238E27FC236}">
                <a16:creationId xmlns:a16="http://schemas.microsoft.com/office/drawing/2014/main" id="{022632AE-EC3D-4D91-8015-5EE1A3C87F53}"/>
              </a:ext>
            </a:extLst>
          </p:cNvPr>
          <p:cNvSpPr>
            <a:spLocks xmlns:a="http://schemas.openxmlformats.org/drawingml/2006/main" noGrp="1"/>
          </p:cNvSpPr>
          <p:nvPr/>
        </p:nvSpPr>
        <p:spPr>
          <a:xfrm xmlns:a="http://schemas.openxmlformats.org/drawingml/2006/main">
            <a:off x="10572750" y="2667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05 / 06</a:t>
            </a:r>
          </a:p>
        </p:txBody>
      </p:sp>
      <p:sp>
        <p:nvSpPr>
          <p:cNvPr id="3" name="">
            <a:extLst xmlns:a="http://schemas.openxmlformats.org/drawingml/2006/main">
              <a:ext uri="{FF2B5EF4-FFF2-40B4-BE49-F238E27FC236}">
                <a16:creationId xmlns:a16="http://schemas.microsoft.com/office/drawing/2014/main" id="{75D2FE99-B067-45F9-AA85-1001294B5A50}"/>
              </a:ext>
            </a:extLst>
          </p:cNvPr>
          <p:cNvSpPr>
            <a:spLocks xmlns:a="http://schemas.openxmlformats.org/drawingml/2006/main" noGrp="1"/>
          </p:cNvSpPr>
          <p:nvPr/>
        </p:nvSpPr>
        <p:spPr>
          <a:xfrm xmlns:a="http://schemas.openxmlformats.org/drawingml/2006/main">
            <a:off x="609600" y="88582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Case 6: câu trả lời còn mơ hồ</a:t>
            </a:r>
          </a:p>
        </p:txBody>
      </p:sp>
      <p:sp>
        <p:nvSpPr>
          <p:cNvPr id="4" name="">
            <a:extLst xmlns:a="http://schemas.openxmlformats.org/drawingml/2006/main">
              <a:ext uri="{FF2B5EF4-FFF2-40B4-BE49-F238E27FC236}">
                <a16:creationId xmlns:a16="http://schemas.microsoft.com/office/drawing/2014/main" id="{A2D0096E-E380-40BA-AC30-11DCDE81B4CB}"/>
              </a:ext>
            </a:extLst>
          </p:cNvPr>
          <p:cNvSpPr>
            <a:spLocks xmlns:a="http://schemas.openxmlformats.org/drawingml/2006/main" noGrp="1"/>
          </p:cNvSpPr>
          <p:nvPr/>
        </p:nvSpPr>
        <p:spPr>
          <a:xfrm xmlns:a="http://schemas.openxmlformats.org/drawingml/2006/main">
            <a:off x="609600" y="6391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8C5"/>
                </a:solidFill>
                <a:latin typeface="Arial"/>
                <a:ea typeface="Arial"/>
                <a:cs typeface="Arial"/>
              </a:defRPr>
            </a:pPr>
            <a:r>
              <a:rPr sz="1125" b="0">
                <a:solidFill>
                  <a:srgbClr val="AAB8C5"/>
                </a:solidFill>
                <a:latin typeface="Arial"/>
                <a:ea typeface="Arial"/>
                <a:cs typeface="Arial"/>
              </a:rPr>
              <a:t>Nguồn: eval/results-live.json, case 6; src/knowledge.js, M17439. Chưa có log dùng thử ngoài nhóm.</a:t>
            </a:r>
          </a:p>
        </p:txBody>
      </p:sp>
      <p:sp>
        <p:nvSpPr>
          <p:cNvPr id="5" name="">
            <a:extLst xmlns:a="http://schemas.openxmlformats.org/drawingml/2006/main">
              <a:ext uri="{FF2B5EF4-FFF2-40B4-BE49-F238E27FC236}">
                <a16:creationId xmlns:a16="http://schemas.microsoft.com/office/drawing/2014/main" id="{9D52A4F4-C7AB-4F38-A69B-13340FAD3300}"/>
              </a:ext>
            </a:extLst>
          </p:cNvPr>
          <p:cNvSpPr>
            <a:spLocks xmlns:a="http://schemas.openxmlformats.org/drawingml/2006/main" noGrp="1"/>
          </p:cNvSpPr>
          <p:nvPr/>
        </p:nvSpPr>
        <p:spPr>
          <a:xfrm xmlns:a="http://schemas.openxmlformats.org/drawingml/2006/main">
            <a:off x="609600" y="20193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AB8C5"/>
                </a:solidFill>
                <a:latin typeface="Arial"/>
                <a:ea typeface="Arial"/>
                <a:cs typeface="Arial"/>
              </a:defRPr>
            </a:pPr>
            <a:r>
              <a:rPr sz="1575" b="0">
                <a:solidFill>
                  <a:srgbClr val="AAB8C5"/>
                </a:solidFill>
                <a:latin typeface="Arial"/>
                <a:ea typeface="Arial"/>
                <a:cs typeface="Arial"/>
              </a:rPr>
              <a:t>Câu hỏi</a:t>
            </a:r>
          </a:p>
        </p:txBody>
      </p:sp>
      <p:sp>
        <p:nvSpPr>
          <p:cNvPr id="6" name="">
            <a:extLst xmlns:a="http://schemas.openxmlformats.org/drawingml/2006/main">
              <a:ext uri="{FF2B5EF4-FFF2-40B4-BE49-F238E27FC236}">
                <a16:creationId xmlns:a16="http://schemas.microsoft.com/office/drawing/2014/main" id="{B8B9740F-C400-4CF4-9C64-177E5BC4C945}"/>
              </a:ext>
            </a:extLst>
          </p:cNvPr>
          <p:cNvSpPr>
            <a:spLocks xmlns:a="http://schemas.openxmlformats.org/drawingml/2006/main" noGrp="1"/>
          </p:cNvSpPr>
          <p:nvPr/>
        </p:nvSpPr>
        <p:spPr>
          <a:xfrm xmlns:a="http://schemas.openxmlformats.org/drawingml/2006/main">
            <a:off x="609600" y="24479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3F6F7"/>
                </a:solidFill>
                <a:latin typeface="Arial"/>
                <a:ea typeface="Arial"/>
                <a:cs typeface="Arial"/>
              </a:defRPr>
            </a:pPr>
            <a:r>
              <a:rPr sz="2400" b="1">
                <a:solidFill>
                  <a:srgbClr val="F3F6F7"/>
                </a:solidFill>
                <a:latin typeface="Arial"/>
                <a:ea typeface="Arial"/>
                <a:cs typeface="Arial"/>
              </a:rPr>
              <a:t>“CVAT tag image cũ cần đối chiếu phiên bản nào?”</a:t>
            </a:r>
          </a:p>
        </p:txBody>
      </p:sp>
      <p:sp>
        <p:nvSpPr>
          <p:cNvPr id="7" name="">
            <a:extLst xmlns:a="http://schemas.openxmlformats.org/drawingml/2006/main">
              <a:ext uri="{FF2B5EF4-FFF2-40B4-BE49-F238E27FC236}">
                <a16:creationId xmlns:a16="http://schemas.microsoft.com/office/drawing/2014/main" id="{842F2D3A-3710-4D4D-9CBD-515DC7344486}"/>
              </a:ext>
            </a:extLst>
          </p:cNvPr>
          <p:cNvSpPr>
            <a:spLocks xmlns:a="http://schemas.openxmlformats.org/drawingml/2006/main" noGrp="1"/>
          </p:cNvSpPr>
          <p:nvPr/>
        </p:nvSpPr>
        <p:spPr>
          <a:xfrm xmlns:a="http://schemas.openxmlformats.org/drawingml/2006/main">
            <a:off x="609600" y="330517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AB8C5"/>
                </a:solidFill>
                <a:latin typeface="Arial"/>
                <a:ea typeface="Arial"/>
                <a:cs typeface="Arial"/>
              </a:defRPr>
            </a:pPr>
            <a:r>
              <a:rPr sz="1575" b="0">
                <a:solidFill>
                  <a:srgbClr val="AAB8C5"/>
                </a:solidFill>
                <a:latin typeface="Arial"/>
                <a:ea typeface="Arial"/>
                <a:cs typeface="Arial"/>
              </a:rPr>
              <a:t>Câu trả lời đang lưu, nguồn M17439</a:t>
            </a:r>
          </a:p>
        </p:txBody>
      </p:sp>
      <p:sp>
        <p:nvSpPr>
          <p:cNvPr id="8" name="">
            <a:extLst xmlns:a="http://schemas.openxmlformats.org/drawingml/2006/main">
              <a:ext uri="{FF2B5EF4-FFF2-40B4-BE49-F238E27FC236}">
                <a16:creationId xmlns:a16="http://schemas.microsoft.com/office/drawing/2014/main" id="{EFEC9BF7-2B98-4DC4-913A-A03D7DFB15EB}"/>
              </a:ext>
            </a:extLst>
          </p:cNvPr>
          <p:cNvSpPr>
            <a:spLocks xmlns:a="http://schemas.openxmlformats.org/drawingml/2006/main" noGrp="1"/>
          </p:cNvSpPr>
          <p:nvPr/>
        </p:nvSpPr>
        <p:spPr>
          <a:xfrm xmlns:a="http://schemas.openxmlformats.org/drawingml/2006/main">
            <a:off x="609600" y="3781425"/>
            <a:ext cx="10668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3F6F7"/>
                </a:solidFill>
                <a:latin typeface="Arial"/>
                <a:ea typeface="Arial"/>
                <a:cs typeface="Arial"/>
              </a:defRPr>
            </a:pPr>
            <a:r>
              <a:rPr sz="2475" b="0">
                <a:solidFill>
                  <a:srgbClr val="F3F6F7"/>
                </a:solidFill>
                <a:latin typeface="Arial"/>
                <a:ea typeface="Arial"/>
                <a:cs typeface="Arial"/>
              </a:rPr>
              <a:t>“Hình bản CVAT cũ tag chuẩn phiên bản v2.74.1, sử dụng kết hợp với openpolicyagent/opa:1.12.2 để đối chiếu.”</a:t>
            </a:r>
          </a:p>
        </p:txBody>
      </p:sp>
      <p:sp>
        <p:nvSpPr>
          <p:cNvPr id="9" name="">
            <a:extLst xmlns:a="http://schemas.openxmlformats.org/drawingml/2006/main">
              <a:ext uri="{FF2B5EF4-FFF2-40B4-BE49-F238E27FC236}">
                <a16:creationId xmlns:a16="http://schemas.microsoft.com/office/drawing/2014/main" id="{D68C8B6C-787E-4B55-8C6F-F52EF41F29E8}"/>
              </a:ext>
            </a:extLst>
          </p:cNvPr>
          <p:cNvSpPr>
            <a:spLocks xmlns:a="http://schemas.openxmlformats.org/drawingml/2006/main" noGrp="1"/>
          </p:cNvSpPr>
          <p:nvPr/>
        </p:nvSpPr>
        <p:spPr>
          <a:xfrm xmlns:a="http://schemas.openxmlformats.org/drawingml/2006/main">
            <a:off x="609600" y="53149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C66D"/>
                </a:solidFill>
                <a:latin typeface="Arial"/>
                <a:ea typeface="Arial"/>
                <a:cs typeface="Arial"/>
              </a:defRPr>
            </a:pPr>
            <a:r>
              <a:rPr sz="2175" b="1">
                <a:solidFill>
                  <a:srgbClr val="FFC66D"/>
                </a:solidFill>
                <a:latin typeface="Arial"/>
                <a:ea typeface="Arial"/>
                <a:cs typeface="Arial"/>
              </a:rPr>
              <a:t>“Hình bản CVAT cũ” chưa rõ nghĩa kỹ thuật.</a:t>
            </a:r>
          </a:p>
        </p:txBody>
      </p:sp>
      <p:sp>
        <p:nvSpPr>
          <p:cNvPr id="10" name="">
            <a:extLst xmlns:a="http://schemas.openxmlformats.org/drawingml/2006/main">
              <a:ext uri="{FF2B5EF4-FFF2-40B4-BE49-F238E27FC236}">
                <a16:creationId xmlns:a16="http://schemas.microsoft.com/office/drawing/2014/main" id="{184F632F-5A2F-48D7-92B7-9C99523DDE5C}"/>
              </a:ext>
            </a:extLst>
          </p:cNvPr>
          <p:cNvSpPr>
            <a:spLocks xmlns:a="http://schemas.openxmlformats.org/drawingml/2006/main" noGrp="1"/>
          </p:cNvSpPr>
          <p:nvPr/>
        </p:nvSpPr>
        <p:spPr>
          <a:xfrm xmlns:a="http://schemas.openxmlformats.org/drawingml/2006/main">
            <a:off x="609600" y="58578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6E0B5"/>
                </a:solidFill>
                <a:latin typeface="Arial"/>
                <a:ea typeface="Arial"/>
                <a:cs typeface="Arial"/>
              </a:defRPr>
            </a:pPr>
            <a:r>
              <a:rPr sz="2100" b="0">
                <a:solidFill>
                  <a:srgbClr val="66E0B5"/>
                </a:solidFill>
                <a:latin typeface="Arial"/>
                <a:ea typeface="Arial"/>
                <a:cs typeface="Arial"/>
              </a:rPr>
              <a:t>Cần chấm nội dung bên cạnh kiểm tra mã nguồn dẫn.</a:t>
            </a:r>
          </a:p>
        </p:txBody>
      </p:sp>
    </p:spTree>
    <p:extLst>
      <p:ext uri="{BB962C8B-B14F-4D97-AF65-F5344CB8AC3E}">
        <p14:creationId xmlns:p14="http://schemas.microsoft.com/office/powerpoint/2010/main" val="201911622"/>
      </p:ext>
    </p:extLst>
  </p:cSld>
</p:sld>
</file>

<file path=ppt/slides/slide6.xml><?xml version="1.0" encoding="utf-8"?>
<p:sld xmlns:p="http://schemas.openxmlformats.org/presentationml/2006/main">
  <p:cSld>
    <p:bg>
      <p:bgPr>
        <a:solidFill xmlns:a="http://schemas.openxmlformats.org/drawingml/2006/main">
          <a:srgbClr val="1118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6382822-9F63-4B27-9D8B-0BFA7948D069}"/>
              </a:ext>
            </a:extLst>
          </p:cNvPr>
          <p:cNvSpPr>
            <a:spLocks xmlns:a="http://schemas.openxmlformats.org/drawingml/2006/main" noGrp="1"/>
          </p:cNvSpPr>
          <p:nvPr/>
        </p:nvSpPr>
        <p:spPr>
          <a:xfrm xmlns:a="http://schemas.openxmlformats.org/drawingml/2006/main">
            <a:off x="609600" y="266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6E0B5"/>
                </a:solidFill>
                <a:latin typeface="Arial"/>
                <a:ea typeface="Arial"/>
                <a:cs typeface="Arial"/>
              </a:defRPr>
            </a:pPr>
            <a:r>
              <a:rPr sz="1350" b="1">
                <a:solidFill>
                  <a:srgbClr val="66E0B5"/>
                </a:solidFill>
                <a:latin typeface="Arial"/>
                <a:ea typeface="Arial"/>
                <a:cs typeface="Arial"/>
              </a:rPr>
              <a:t>KUTE</a:t>
            </a:r>
          </a:p>
        </p:txBody>
      </p:sp>
      <p:sp>
        <p:nvSpPr>
          <p:cNvPr id="2" name="">
            <a:extLst xmlns:a="http://schemas.openxmlformats.org/drawingml/2006/main">
              <a:ext uri="{FF2B5EF4-FFF2-40B4-BE49-F238E27FC236}">
                <a16:creationId xmlns:a16="http://schemas.microsoft.com/office/drawing/2014/main" id="{A917893B-3014-4150-9B0C-1980CC622D86}"/>
              </a:ext>
            </a:extLst>
          </p:cNvPr>
          <p:cNvSpPr>
            <a:spLocks xmlns:a="http://schemas.openxmlformats.org/drawingml/2006/main" noGrp="1"/>
          </p:cNvSpPr>
          <p:nvPr/>
        </p:nvSpPr>
        <p:spPr>
          <a:xfrm xmlns:a="http://schemas.openxmlformats.org/drawingml/2006/main">
            <a:off x="10572750" y="2667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AB8C5"/>
                </a:solidFill>
                <a:latin typeface="Arial"/>
                <a:ea typeface="Arial"/>
                <a:cs typeface="Arial"/>
              </a:defRPr>
            </a:pPr>
            <a:r>
              <a:rPr sz="1200" b="0">
                <a:solidFill>
                  <a:srgbClr val="AAB8C5"/>
                </a:solidFill>
                <a:latin typeface="Arial"/>
                <a:ea typeface="Arial"/>
                <a:cs typeface="Arial"/>
              </a:rPr>
              <a:t>06 / 06</a:t>
            </a:r>
          </a:p>
        </p:txBody>
      </p:sp>
      <p:sp>
        <p:nvSpPr>
          <p:cNvPr id="3" name="">
            <a:extLst xmlns:a="http://schemas.openxmlformats.org/drawingml/2006/main">
              <a:ext uri="{FF2B5EF4-FFF2-40B4-BE49-F238E27FC236}">
                <a16:creationId xmlns:a16="http://schemas.microsoft.com/office/drawing/2014/main" id="{7FDAB1F9-44D8-433A-8531-E43ED1E4A9EB}"/>
              </a:ext>
            </a:extLst>
          </p:cNvPr>
          <p:cNvSpPr>
            <a:spLocks xmlns:a="http://schemas.openxmlformats.org/drawingml/2006/main" noGrp="1"/>
          </p:cNvSpPr>
          <p:nvPr/>
        </p:nvSpPr>
        <p:spPr>
          <a:xfrm xmlns:a="http://schemas.openxmlformats.org/drawingml/2006/main">
            <a:off x="609600" y="88582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3F6F7"/>
                </a:solidFill>
                <a:latin typeface="Arial"/>
                <a:ea typeface="Arial"/>
                <a:cs typeface="Arial"/>
              </a:defRPr>
            </a:pPr>
            <a:r>
              <a:rPr sz="3450" b="1">
                <a:solidFill>
                  <a:srgbClr val="F3F6F7"/>
                </a:solidFill>
                <a:latin typeface="Arial"/>
                <a:ea typeface="Arial"/>
                <a:cs typeface="Arial"/>
              </a:rPr>
              <a:t>Kế hoạch kiểm chứng trong một tuần</a:t>
            </a:r>
          </a:p>
        </p:txBody>
      </p:sp>
      <p:sp>
        <p:nvSpPr>
          <p:cNvPr id="4" name="">
            <a:extLst xmlns:a="http://schemas.openxmlformats.org/drawingml/2006/main">
              <a:ext uri="{FF2B5EF4-FFF2-40B4-BE49-F238E27FC236}">
                <a16:creationId xmlns:a16="http://schemas.microsoft.com/office/drawing/2014/main" id="{72A20432-BDF4-41B6-AA2F-327913652EA9}"/>
              </a:ext>
            </a:extLst>
          </p:cNvPr>
          <p:cNvSpPr>
            <a:spLocks xmlns:a="http://schemas.openxmlformats.org/drawingml/2006/main" noGrp="1"/>
          </p:cNvSpPr>
          <p:nvPr/>
        </p:nvSpPr>
        <p:spPr>
          <a:xfrm xmlns:a="http://schemas.openxmlformats.org/drawingml/2006/main">
            <a:off x="609600" y="6391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8C5"/>
                </a:solidFill>
                <a:latin typeface="Arial"/>
                <a:ea typeface="Arial"/>
                <a:cs typeface="Arial"/>
              </a:defRPr>
            </a:pPr>
            <a:r>
              <a:rPr sz="1125" b="0">
                <a:solidFill>
                  <a:srgbClr val="AAB8C5"/>
                </a:solidFill>
                <a:latin typeface="Arial"/>
                <a:ea typeface="Arial"/>
                <a:cs typeface="Arial"/>
              </a:rPr>
              <a:t>Căn cứ: case 6, kho 4 trích đoạn và thiếu log dùng thử. Đây là kế hoạch tiếp theo.</a:t>
            </a:r>
          </a:p>
        </p:txBody>
      </p:sp>
      <p:sp>
        <p:nvSpPr>
          <p:cNvPr id="5" name="">
            <a:extLst xmlns:a="http://schemas.openxmlformats.org/drawingml/2006/main">
              <a:ext uri="{FF2B5EF4-FFF2-40B4-BE49-F238E27FC236}">
                <a16:creationId xmlns:a16="http://schemas.microsoft.com/office/drawing/2014/main" id="{C2693D41-5ED0-4603-A9D4-64CC55C4039E}"/>
              </a:ext>
            </a:extLst>
          </p:cNvPr>
          <p:cNvSpPr>
            <a:spLocks xmlns:a="http://schemas.openxmlformats.org/drawingml/2006/main" noGrp="1"/>
          </p:cNvSpPr>
          <p:nvPr/>
        </p:nvSpPr>
        <p:spPr>
          <a:xfrm xmlns:a="http://schemas.openxmlformats.org/drawingml/2006/main">
            <a:off x="609600" y="2057400"/>
            <a:ext cx="100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66E0B5"/>
                </a:solidFill>
                <a:latin typeface="Arial"/>
                <a:ea typeface="Arial"/>
                <a:cs typeface="Arial"/>
              </a:defRPr>
            </a:pPr>
            <a:r>
              <a:rPr sz="3300" b="1">
                <a:solidFill>
                  <a:srgbClr val="66E0B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B4158EA-4998-4C76-8FC9-AEEA394BED42}"/>
              </a:ext>
            </a:extLst>
          </p:cNvPr>
          <p:cNvSpPr>
            <a:spLocks xmlns:a="http://schemas.openxmlformats.org/drawingml/2006/main" noGrp="1"/>
          </p:cNvSpPr>
          <p:nvPr/>
        </p:nvSpPr>
        <p:spPr>
          <a:xfrm xmlns:a="http://schemas.openxmlformats.org/drawingml/2006/main">
            <a:off x="1895475" y="2076450"/>
            <a:ext cx="938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3F6F7"/>
                </a:solidFill>
                <a:latin typeface="Arial"/>
                <a:ea typeface="Arial"/>
                <a:cs typeface="Arial"/>
              </a:defRPr>
            </a:pPr>
            <a:r>
              <a:rPr sz="2550" b="1">
                <a:solidFill>
                  <a:srgbClr val="F3F6F7"/>
                </a:solidFill>
                <a:latin typeface="Arial"/>
                <a:ea typeface="Arial"/>
                <a:cs typeface="Arial"/>
              </a:rPr>
              <a:t>Chấm lại nội dung</a:t>
            </a:r>
          </a:p>
        </p:txBody>
      </p:sp>
      <p:sp>
        <p:nvSpPr>
          <p:cNvPr id="7" name="">
            <a:extLst xmlns:a="http://schemas.openxmlformats.org/drawingml/2006/main">
              <a:ext uri="{FF2B5EF4-FFF2-40B4-BE49-F238E27FC236}">
                <a16:creationId xmlns:a16="http://schemas.microsoft.com/office/drawing/2014/main" id="{14487A34-9FB4-4B86-BF95-B41A20244945}"/>
              </a:ext>
            </a:extLst>
          </p:cNvPr>
          <p:cNvSpPr>
            <a:spLocks xmlns:a="http://schemas.openxmlformats.org/drawingml/2006/main" noGrp="1"/>
          </p:cNvSpPr>
          <p:nvPr/>
        </p:nvSpPr>
        <p:spPr>
          <a:xfrm xmlns:a="http://schemas.openxmlformats.org/drawingml/2006/main">
            <a:off x="1895475" y="2619375"/>
            <a:ext cx="942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Hai người chấm độc lập, chạy lại 20 câu và lưu từng lượt.</a:t>
            </a:r>
          </a:p>
        </p:txBody>
      </p:sp>
      <p:sp>
        <p:nvSpPr>
          <p:cNvPr id="8" name="">
            <a:extLst xmlns:a="http://schemas.openxmlformats.org/drawingml/2006/main">
              <a:ext uri="{FF2B5EF4-FFF2-40B4-BE49-F238E27FC236}">
                <a16:creationId xmlns:a16="http://schemas.microsoft.com/office/drawing/2014/main" id="{255401C6-9802-4839-AB37-10705FDD80BF}"/>
              </a:ext>
            </a:extLst>
          </p:cNvPr>
          <p:cNvSpPr>
            <a:spLocks xmlns:a="http://schemas.openxmlformats.org/drawingml/2006/main" noGrp="1"/>
          </p:cNvSpPr>
          <p:nvPr/>
        </p:nvSpPr>
        <p:spPr>
          <a:xfrm xmlns:a="http://schemas.openxmlformats.org/drawingml/2006/main">
            <a:off x="609600" y="3371850"/>
            <a:ext cx="100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66E0B5"/>
                </a:solidFill>
                <a:latin typeface="Arial"/>
                <a:ea typeface="Arial"/>
                <a:cs typeface="Arial"/>
              </a:defRPr>
            </a:pPr>
            <a:r>
              <a:rPr sz="3300" b="1">
                <a:solidFill>
                  <a:srgbClr val="66E0B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B23C630-D646-40C5-B318-68FDE4905133}"/>
              </a:ext>
            </a:extLst>
          </p:cNvPr>
          <p:cNvSpPr>
            <a:spLocks xmlns:a="http://schemas.openxmlformats.org/drawingml/2006/main" noGrp="1"/>
          </p:cNvSpPr>
          <p:nvPr/>
        </p:nvSpPr>
        <p:spPr>
          <a:xfrm xmlns:a="http://schemas.openxmlformats.org/drawingml/2006/main">
            <a:off x="1895475" y="3390900"/>
            <a:ext cx="938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3F6F7"/>
                </a:solidFill>
                <a:latin typeface="Arial"/>
                <a:ea typeface="Arial"/>
                <a:cs typeface="Arial"/>
              </a:defRPr>
            </a:pPr>
            <a:r>
              <a:rPr sz="2550" b="1">
                <a:solidFill>
                  <a:srgbClr val="F3F6F7"/>
                </a:solidFill>
                <a:latin typeface="Arial"/>
                <a:ea typeface="Arial"/>
                <a:cs typeface="Arial"/>
              </a:rPr>
              <a:t>Nhờ TA duyệt kho nguồn</a:t>
            </a:r>
          </a:p>
        </p:txBody>
      </p:sp>
      <p:sp>
        <p:nvSpPr>
          <p:cNvPr id="10" name="">
            <a:extLst xmlns:a="http://schemas.openxmlformats.org/drawingml/2006/main">
              <a:ext uri="{FF2B5EF4-FFF2-40B4-BE49-F238E27FC236}">
                <a16:creationId xmlns:a16="http://schemas.microsoft.com/office/drawing/2014/main" id="{5284FE5C-6A7A-49AE-823B-FAD98E5E8411}"/>
              </a:ext>
            </a:extLst>
          </p:cNvPr>
          <p:cNvSpPr>
            <a:spLocks xmlns:a="http://schemas.openxmlformats.org/drawingml/2006/main" noGrp="1"/>
          </p:cNvSpPr>
          <p:nvPr/>
        </p:nvSpPr>
        <p:spPr>
          <a:xfrm xmlns:a="http://schemas.openxmlformats.org/drawingml/2006/main">
            <a:off x="1895475" y="3933825"/>
            <a:ext cx="942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Bắt đầu từ 4 trích đoạn, bổ sung cách hỏi biến thể.</a:t>
            </a:r>
          </a:p>
        </p:txBody>
      </p:sp>
      <p:sp>
        <p:nvSpPr>
          <p:cNvPr id="11" name="">
            <a:extLst xmlns:a="http://schemas.openxmlformats.org/drawingml/2006/main">
              <a:ext uri="{FF2B5EF4-FFF2-40B4-BE49-F238E27FC236}">
                <a16:creationId xmlns:a16="http://schemas.microsoft.com/office/drawing/2014/main" id="{36A11D1F-A261-4366-8997-DA14999AF71C}"/>
              </a:ext>
            </a:extLst>
          </p:cNvPr>
          <p:cNvSpPr>
            <a:spLocks xmlns:a="http://schemas.openxmlformats.org/drawingml/2006/main" noGrp="1"/>
          </p:cNvSpPr>
          <p:nvPr/>
        </p:nvSpPr>
        <p:spPr>
          <a:xfrm xmlns:a="http://schemas.openxmlformats.org/drawingml/2006/main">
            <a:off x="609600" y="4686300"/>
            <a:ext cx="100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66E0B5"/>
                </a:solidFill>
                <a:latin typeface="Arial"/>
                <a:ea typeface="Arial"/>
                <a:cs typeface="Arial"/>
              </a:defRPr>
            </a:pPr>
            <a:r>
              <a:rPr sz="3300" b="1">
                <a:solidFill>
                  <a:srgbClr val="66E0B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1AD34A19-8C09-4AC5-98E5-AE981EC4192F}"/>
              </a:ext>
            </a:extLst>
          </p:cNvPr>
          <p:cNvSpPr>
            <a:spLocks xmlns:a="http://schemas.openxmlformats.org/drawingml/2006/main" noGrp="1"/>
          </p:cNvSpPr>
          <p:nvPr/>
        </p:nvSpPr>
        <p:spPr>
          <a:xfrm xmlns:a="http://schemas.openxmlformats.org/drawingml/2006/main">
            <a:off x="1895475" y="4705350"/>
            <a:ext cx="938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3F6F7"/>
                </a:solidFill>
                <a:latin typeface="Arial"/>
                <a:ea typeface="Arial"/>
                <a:cs typeface="Arial"/>
              </a:defRPr>
            </a:pPr>
            <a:r>
              <a:rPr sz="2550" b="1">
                <a:solidFill>
                  <a:srgbClr val="F3F6F7"/>
                </a:solidFill>
                <a:latin typeface="Arial"/>
                <a:ea typeface="Arial"/>
                <a:cs typeface="Arial"/>
              </a:rPr>
              <a:t>Thử với 5 người ngoài nhóm</a:t>
            </a:r>
          </a:p>
        </p:txBody>
      </p:sp>
      <p:sp>
        <p:nvSpPr>
          <p:cNvPr id="13" name="">
            <a:extLst xmlns:a="http://schemas.openxmlformats.org/drawingml/2006/main">
              <a:ext uri="{FF2B5EF4-FFF2-40B4-BE49-F238E27FC236}">
                <a16:creationId xmlns:a16="http://schemas.microsoft.com/office/drawing/2014/main" id="{7A7BEC9A-4B03-4F6A-811E-DE474B95CB5D}"/>
              </a:ext>
            </a:extLst>
          </p:cNvPr>
          <p:cNvSpPr>
            <a:spLocks xmlns:a="http://schemas.openxmlformats.org/drawingml/2006/main" noGrp="1"/>
          </p:cNvSpPr>
          <p:nvPr/>
        </p:nvSpPr>
        <p:spPr>
          <a:xfrm xmlns:a="http://schemas.openxmlformats.org/drawingml/2006/main">
            <a:off x="1895475" y="5248275"/>
            <a:ext cx="942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AB8C5"/>
                </a:solidFill>
                <a:latin typeface="Arial"/>
                <a:ea typeface="Arial"/>
                <a:cs typeface="Arial"/>
              </a:defRPr>
            </a:pPr>
            <a:r>
              <a:rPr sz="1950" b="0">
                <a:solidFill>
                  <a:srgbClr val="AAB8C5"/>
                </a:solidFill>
                <a:latin typeface="Arial"/>
                <a:ea typeface="Arial"/>
                <a:cs typeface="Arial"/>
              </a:rPr>
              <a:t>Ghi phản hồi và kiểm chứng ticket đến TA trên Discord.</a:t>
            </a:r>
          </a:p>
        </p:txBody>
      </p:sp>
      <p:sp>
        <p:nvSpPr>
          <p:cNvPr id="14" name="">
            <a:extLst xmlns:a="http://schemas.openxmlformats.org/drawingml/2006/main">
              <a:ext uri="{FF2B5EF4-FFF2-40B4-BE49-F238E27FC236}">
                <a16:creationId xmlns:a16="http://schemas.microsoft.com/office/drawing/2014/main" id="{1CF219CE-CFD8-4AD7-8401-DE443498D5E9}"/>
              </a:ext>
            </a:extLst>
          </p:cNvPr>
          <p:cNvSpPr>
            <a:spLocks xmlns:a="http://schemas.openxmlformats.org/drawingml/2006/main" noGrp="1"/>
          </p:cNvSpPr>
          <p:nvPr/>
        </p:nvSpPr>
        <p:spPr>
          <a:xfrm xmlns:a="http://schemas.openxmlformats.org/drawingml/2006/main">
            <a:off x="609600" y="59150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B5"/>
                </a:solidFill>
                <a:latin typeface="Arial"/>
                <a:ea typeface="Arial"/>
                <a:cs typeface="Arial"/>
              </a:defRPr>
            </a:pPr>
            <a:r>
              <a:rPr sz="2175" b="1">
                <a:solidFill>
                  <a:srgbClr val="66E0B5"/>
                </a:solidFill>
                <a:latin typeface="Arial"/>
                <a:ea typeface="Arial"/>
                <a:cs typeface="Arial"/>
              </a:rPr>
              <a:t>Mỗi hướng dẫn cần có nguồn thực sự chứng minh.</a:t>
            </a:r>
          </a:p>
        </p:txBody>
      </p:sp>
    </p:spTree>
    <p:extLst>
      <p:ext uri="{BB962C8B-B14F-4D97-AF65-F5344CB8AC3E}">
        <p14:creationId xmlns:p14="http://schemas.microsoft.com/office/powerpoint/2010/main" val="9970415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2026-09-18T11:49:16.9720000Z</dcterms:created>
  <dcterms:modified xsi:type="dcterms:W3CDTF">2026-09-18T11:49:16.9720000Z</dcterms:modified>
</coreProperties>
</file>