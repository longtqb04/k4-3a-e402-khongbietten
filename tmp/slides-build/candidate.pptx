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0e0349846146fd" /><Relationship Type="http://schemas.openxmlformats.org/officeDocument/2006/relationships/extended-properties" Target="/docProps/app.xml" Id="R62636ac646e54e2d" /><Relationship Type="http://schemas.openxmlformats.org/officeDocument/2006/relationships/officeDocument" Target="/ppt/presentation.xml" Id="Rffdce65d7f9540ae" /></Relationships>
</file>

<file path=ppt/presentation.xml><?xml version="1.0" encoding="utf-8"?>
<p:presentation xmlns:p="http://schemas.openxmlformats.org/presentationml/2006/main">
  <p:sldMasterIdLst>
    <p:sldMasterId xmlns:r="http://schemas.openxmlformats.org/officeDocument/2006/relationships" id="2147483648" r:id="R248286975eef46c0"/>
  </p:sldMasterIdLst>
  <p:notesMasterIdLst>
    <p:notesMasterId xmlns:r="http://schemas.openxmlformats.org/officeDocument/2006/relationships" r:id="R9468d6afcf714b99"/>
  </p:notesMasterIdLst>
  <p:sldIdLst>
    <p:sldId xmlns:r="http://schemas.openxmlformats.org/officeDocument/2006/relationships" id="256" r:id="R90076ab6776a49d8"/>
    <p:sldId xmlns:r="http://schemas.openxmlformats.org/officeDocument/2006/relationships" id="257" r:id="R6cf9806a984b4956"/>
    <p:sldId xmlns:r="http://schemas.openxmlformats.org/officeDocument/2006/relationships" id="258" r:id="R369622978dcf44b8"/>
    <p:sldId xmlns:r="http://schemas.openxmlformats.org/officeDocument/2006/relationships" id="259" r:id="Rbd64914a7b5b4633"/>
    <p:sldId xmlns:r="http://schemas.openxmlformats.org/officeDocument/2006/relationships" id="260" r:id="Raedad0e13e834672"/>
    <p:sldId xmlns:r="http://schemas.openxmlformats.org/officeDocument/2006/relationships" id="261" r:id="R9a0038b2c24647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027d5a29524e42" /><Relationship Type="http://schemas.openxmlformats.org/officeDocument/2006/relationships/slideMaster" Target="/ppt/slideMasters/slideMaster1.xml" Id="R248286975eef46c0" /><Relationship Type="http://schemas.openxmlformats.org/officeDocument/2006/relationships/notesMaster" Target="/ppt/notesMasters/notesMaster1.xml" Id="R9468d6afcf714b99" /><Relationship Type="http://schemas.openxmlformats.org/officeDocument/2006/relationships/presProps" Target="/ppt/presProps.xml" Id="R8093c1f71d3f45ba" /><Relationship Type="http://schemas.openxmlformats.org/officeDocument/2006/relationships/tableStyles" Target="/ppt/tableStyles.xml" Id="R144daea8bbe6477d" /><Relationship Type="http://schemas.openxmlformats.org/officeDocument/2006/relationships/slide" Target="/ppt/slides/slide1.xml" Id="R90076ab6776a49d8" /><Relationship Type="http://schemas.openxmlformats.org/officeDocument/2006/relationships/slide" Target="/ppt/slides/slide2.xml" Id="R6cf9806a984b4956" /><Relationship Type="http://schemas.openxmlformats.org/officeDocument/2006/relationships/slide" Target="/ppt/slides/slide3.xml" Id="R369622978dcf44b8" /><Relationship Type="http://schemas.openxmlformats.org/officeDocument/2006/relationships/slide" Target="/ppt/slides/slide4.xml" Id="Rbd64914a7b5b4633" /><Relationship Type="http://schemas.openxmlformats.org/officeDocument/2006/relationships/slide" Target="/ppt/slides/slide5.xml" Id="Raedad0e13e834672" /><Relationship Type="http://schemas.openxmlformats.org/officeDocument/2006/relationships/slide" Target="/ppt/slides/slide6.xml" Id="R9a0038b2c24647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063edd906f4c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9e0d2149b84d92" /><Relationship Type="http://schemas.openxmlformats.org/officeDocument/2006/relationships/notesMaster" Target="/ppt/notesMasters/notesMaster1.xml" Id="R5e6f2ea06f6c41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c709b989764786" /><Relationship Type="http://schemas.openxmlformats.org/officeDocument/2006/relationships/notesMaster" Target="/ppt/notesMasters/notesMaster1.xml" Id="R91d995f9c1e748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a8c11be91f4d9e" /><Relationship Type="http://schemas.openxmlformats.org/officeDocument/2006/relationships/notesMaster" Target="/ppt/notesMasters/notesMaster1.xml" Id="R3880e5d5568c4d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ecd1e9b6f846aa" /><Relationship Type="http://schemas.openxmlformats.org/officeDocument/2006/relationships/notesMaster" Target="/ppt/notesMasters/notesMaster1.xml" Id="R26844541973442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07007b95b64a14" /><Relationship Type="http://schemas.openxmlformats.org/officeDocument/2006/relationships/notesMaster" Target="/ppt/notesMasters/notesMaster1.xml" Id="R3289c42e99d148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8b991ed8dd4eba" /><Relationship Type="http://schemas.openxmlformats.org/officeDocument/2006/relationships/notesMaster" Target="/ppt/notesMasters/notesMaster1.xml" Id="Rb5134cd9823141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 — Học viên cần tiếp tục bài lab, không phải tìm thêm một chatbot</a:t>
            </a:r>
          </a:p>
          <a:p xmlns:a="http://schemas.openxmlformats.org/drawingml/2006/main">
            <a:r>
              <a:t/>
            </a:r>
          </a:p>
          <a:p xmlns:a="http://schemas.openxmlformats.org/drawingml/2006/main">
            <a:r>
              <a:t>**Chỉ chiếu:** quote M07901, “1.092 tin · 779 tin người gửi · 313 tin bot”, JTBD một dòng. Chân slide: `data/k4_messages.csv · M07901; eval/evidence.json`.</a:t>
            </a:r>
          </a:p>
          <a:p xmlns:a="http://schemas.openxmlformats.org/drawingml/2006/main">
            <a:r>
              <a:t/>
            </a:r>
          </a:p>
          <a:p xmlns:a="http://schemas.openxmlformats.org/drawingml/2006/main">
            <a:r>
              <a:t>**Trí, 0:00–0:45:**</a:t>
            </a:r>
          </a:p>
          <a:p xmlns:a="http://schemas.openxmlformats.org/drawingml/2006/main">
            <a:r>
              <a:t/>
            </a:r>
          </a:p>
          <a:p xmlns:a="http://schemas.openxmlformats.org/drawingml/2006/main">
            <a:r>
              <a:t>&gt; “Hi, mình vẫn chưa cài được CVAT. Có bạn nào hỗ trợ được mình không?” Đây là câu hỏi thật, mã M07901, trong dữ liệu onboarding của khóa học.</a:t>
            </a:r>
          </a:p>
          <a:p xmlns:a="http://schemas.openxmlformats.org/drawingml/2006/main">
            <a:r>
              <a:t>&gt;</a:t>
            </a:r>
          </a:p>
          <a:p xmlns:a="http://schemas.openxmlformats.org/drawingml/2006/main">
            <a:r>
              <a:t>&gt; Nhóm Không Biết Tên chọn phục vụ học viên đang mắc lỗi cài đặt khi chuẩn bị làm lab. Việc họ cần hoàn thành là xử lý đúng sự cố để tiếp tục học, còn TA cần biết câu nào thực sự cần mình can thiệp.</a:t>
            </a:r>
          </a:p>
          <a:p xmlns:a="http://schemas.openxmlformats.org/drawingml/2006/main">
            <a:r>
              <a:t>&gt;</a:t>
            </a:r>
          </a:p>
          <a:p xmlns:a="http://schemas.openxmlformats.org/drawingml/2006/main">
            <a:r>
              <a:t>&gt; Nhóm khảo sát bằng dữ liệu 1.092 tin nhắn, gồm 779 tin của người và 313 tin của bot. Đây là số tin, không phải số học viên. Từ đó, nhóm chọn một lát cắt nhỏ để kiểm chứng: hỗ trợ lỗi kỹ thuật có nguồn.</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 — Chọn hướng có thể kiểm chứng trong hackathon</a:t>
            </a:r>
          </a:p>
          <a:p xmlns:a="http://schemas.openxmlformats.org/drawingml/2006/main">
            <a:r>
              <a:t/>
            </a:r>
          </a:p>
          <a:p xmlns:a="http://schemas.openxmlformats.org/drawingml/2006/main">
            <a:r>
              <a:t>**Chỉ chiếu bảng 3 dòng:**</a:t>
            </a:r>
          </a:p>
          <a:p xmlns:a="http://schemas.openxmlformats.org/drawingml/2006/main">
            <a:r>
              <a:t/>
            </a:r>
          </a:p>
          <a:p xmlns:a="http://schemas.openxmlformats.org/drawingml/2006/main">
            <a:r>
              <a:t>| Hướng | Dữ liệu đếm được | Quyết định |</a:t>
            </a:r>
          </a:p>
          <a:p xmlns:a="http://schemas.openxmlformats.org/drawingml/2006/main">
            <a:r>
              <a:t>|---|---|---|</a:t>
            </a:r>
          </a:p>
          <a:p xmlns:a="http://schemas.openxmlformats.org/drawingml/2006/main">
            <a:r>
              <a:t>| Hỗ trợ kỹ thuật | 21 tin CVAT/OPA/Docker; 28 tin Phoenix | Chọn: có lỗi và hướng dẫn cụ thể để đối chiếu |</a:t>
            </a:r>
          </a:p>
          <a:p xmlns:a="http://schemas.openxmlformats.org/drawingml/2006/main">
            <a:r>
              <a:t>| Điểm danh | 49 tin chứa điểm danh/Zoom | Loại: không có cơ sở dữ liệu điểm danh cá nhân |</a:t>
            </a:r>
          </a:p>
          <a:p xmlns:a="http://schemas.openxmlformats.org/drawingml/2006/main">
            <a:r>
              <a:t>| Standup/nhóm | 58 tin Standup; 65 tin team | Loại: cần xác minh quy định và quyền thao tác |</a:t>
            </a:r>
          </a:p>
          <a:p xmlns:a="http://schemas.openxmlformats.org/drawingml/2006/main">
            <a:r>
              <a:t/>
            </a:r>
          </a:p>
          <a:p xmlns:a="http://schemas.openxmlformats.org/drawingml/2006/main">
            <a:r>
              <a:t>Chân slide: `eval/evidence.json; scripts/evidence.js — đếm từ khóa, nhóm có thể chồng lắp, không phải câu hỏi lặp đã gán nhãn`.</a:t>
            </a:r>
          </a:p>
          <a:p xmlns:a="http://schemas.openxmlformats.org/drawingml/2006/main">
            <a:r>
              <a:t/>
            </a:r>
          </a:p>
          <a:p xmlns:a="http://schemas.openxmlformats.org/drawingml/2006/main">
            <a:r>
              <a:t>**Trí, 0:45–1:30:**</a:t>
            </a:r>
          </a:p>
          <a:p xmlns:a="http://schemas.openxmlformats.org/drawingml/2006/main">
            <a:r>
              <a:t/>
            </a:r>
          </a:p>
          <a:p xmlns:a="http://schemas.openxmlformats.org/drawingml/2006/main">
            <a:r>
              <a:t>&gt; Nhóm cân nhắc ba hướng: hỗ trợ kỹ thuật, điểm danh và hỗ trợ standup hoặc lập nhóm.</a:t>
            </a:r>
          </a:p>
          <a:p xmlns:a="http://schemas.openxmlformats.org/drawingml/2006/main">
            <a:r>
              <a:t>&gt;</a:t>
            </a:r>
          </a:p>
          <a:p xmlns:a="http://schemas.openxmlformats.org/drawingml/2006/main">
            <a:r>
              <a:t>&gt; Trong các tin người gửi, có 21 tin nhắc CVAT, OPA hoặc Docker; 28 tin nhắc Phoenix. Các hướng còn lại cũng có nhu cầu, nhưng để trả lời điểm danh cá nhân hay tự sửa nhóm, chúng em cần dữ liệu và quyền mà prototype chưa có.</a:t>
            </a:r>
          </a:p>
          <a:p xmlns:a="http://schemas.openxmlformats.org/drawingml/2006/main">
            <a:r>
              <a:t>&gt;</a:t>
            </a:r>
          </a:p>
          <a:p xmlns:a="http://schemas.openxmlformats.org/drawingml/2006/main">
            <a:r>
              <a:t>&gt; Vì vậy, nhóm chọn hỗ trợ kỹ thuật vì có hướng dẫn cụ thể để kiểm tra câu trả lời. Chúng em chưa đo mức tiết kiệm thời gian hay giảm tải TA, nên chưa tuyên bố hiệu quả bằng phần trăm. Sau đây Long sẽ cho thấy lát cắt đang chạy.</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3 — Có nguồn thì hướng dẫn; thiếu căn cứ thì có đường chuyển TA</a:t>
            </a:r>
          </a:p>
          <a:p xmlns:a="http://schemas.openxmlformats.org/drawingml/2006/main">
            <a:r>
              <a:t/>
            </a:r>
          </a:p>
          <a:p xmlns:a="http://schemas.openxmlformats.org/drawingml/2006/main">
            <a:r>
              <a:t>**Chỉ chiếu:** `Hỏi → tìm nguồn → FOUND / CLARIFY / NOT_FOUND → kiểm tra / chuyển TA`; “4 trích đoạn đối chiếu CSV”; nhãn “Web chạy thật · Discord chưa kiểm chứng trên guild”. Chân slide: `src/knowledge.js; src/assistant.js; demo trực tiếp`.</a:t>
            </a:r>
          </a:p>
          <a:p xmlns:a="http://schemas.openxmlformats.org/drawingml/2006/main">
            <a:r>
              <a:t/>
            </a:r>
          </a:p>
          <a:p xmlns:a="http://schemas.openxmlformats.org/drawingml/2006/main">
            <a:r>
              <a:t>**Long, mở đầu 1:30–1:55:**</a:t>
            </a:r>
          </a:p>
          <a:p xmlns:a="http://schemas.openxmlformats.org/drawingml/2006/main">
            <a:r>
              <a:t/>
            </a:r>
          </a:p>
          <a:p xmlns:a="http://schemas.openxmlformats.org/drawingml/2006/main">
            <a:r>
              <a:t>&gt; Kute hỗ trợ một học viên hỏi lỗi kỹ thuật, tìm hướng dẫn trong bốn trích đoạn đã đối chiếu với CSV, rồi trả lời, hỏi lại hoặc từ chối và cho chuyển TA.</a:t>
            </a:r>
          </a:p>
          <a:p xmlns:a="http://schemas.openxmlformats.org/drawingml/2006/main">
            <a:r>
              <a:t>&gt;</a:t>
            </a:r>
          </a:p>
          <a:p xmlns:a="http://schemas.openxmlformats.org/drawingml/2006/main">
            <a:r>
              <a:t>&gt; Nhóm chọn tự động hóa có điều kiện vì hướng dẫn sai có thể làm hỏng môi trường học viên. Đây là web simulator dùng backend và AI thật. Tích hợp Discord đã có mã nguồn nhưng chưa kiểm chứng trên server thật; các nguồn hiện vẫn là trao đổi cộng đồng.</a:t>
            </a:r>
          </a:p>
          <a:p xmlns:a="http://schemas.openxmlformats.org/drawingml/2006/main">
            <a:r>
              <a:t/>
            </a:r>
          </a:p>
          <a:p xmlns:a="http://schemas.openxmlformats.org/drawingml/2006/main">
            <a:r>
              <a:t>**1:55–2:45 — ca chuẩn, thao tác thật:**</a:t>
            </a:r>
          </a:p>
          <a:p xmlns:a="http://schemas.openxmlformats.org/drawingml/2006/main">
            <a:r>
              <a:t/>
            </a:r>
          </a:p>
          <a:p xmlns:a="http://schemas.openxmlformats.org/drawingml/2006/main">
            <a:r>
              <a:t>1. Bấm Đặt lại. Dán và gửi: **“CVAT OPA báo 500 health bundles ngay sau docker compose up -d.”**</a:t>
            </a:r>
          </a:p>
          <a:p xmlns:a="http://schemas.openxmlformats.org/drawingml/2006/main">
            <a:r>
              <a:t>2. Trong lúc chờ, nói: “Câu này mô tả rõ thời điểm và mã lỗi. Hệ thống lấy trích đoạn phù hợp rồi gọi AI để trả lời.”</a:t>
            </a:r>
          </a:p>
          <a:p xmlns:a="http://schemas.openxmlformats.org/drawingml/2006/main">
            <a:r>
              <a:t>3. Khi phản hồi hiện ra, kiểm tra nhãn `openai`, `FOUND`, nguồn `M12802`; mở trích đoạn.</a:t>
            </a:r>
          </a:p>
          <a:p xmlns:a="http://schemas.openxmlformats.org/drawingml/2006/main">
            <a:r>
              <a:t>4. Nói theo output thực tế: “Nguồn mô tả OPA chưa lấy được policy bundle khi CVAT chưa hoàn tất migration. Người học có thể mở nguồn để đối chiếu lời hướng dẫn.” Nếu output khác kỳ vọng, không đọc lời thoại như thể nó đã đúng; nêu khác biệt và dùng đường phản hồi.</a:t>
            </a:r>
          </a:p>
          <a:p xmlns:a="http://schemas.openxmlformats.org/drawingml/2006/main">
            <a:r>
              <a:t/>
            </a:r>
          </a:p>
          <a:p xmlns:a="http://schemas.openxmlformats.org/drawingml/2006/main">
            <a:r>
              <a:t>**2:45–3:20 — ca khó ngoài thẩm quyền:**</a:t>
            </a:r>
          </a:p>
          <a:p xmlns:a="http://schemas.openxmlformats.org/drawingml/2006/main">
            <a:r>
              <a:t/>
            </a:r>
          </a:p>
          <a:p xmlns:a="http://schemas.openxmlformats.org/drawingml/2006/main">
            <a:r>
              <a:t>1. Bấm Đặt lại, gửi: **“Xin gia hạn bài CVAT health check cho em.”**</a:t>
            </a:r>
          </a:p>
          <a:p xmlns:a="http://schemas.openxmlformats.org/drawingml/2006/main">
            <a:r>
              <a:t>2. Khi hiện NOT_FOUND, nói: “Câu này vẫn chứa từ khóa kỹ thuật, nhưng yêu cầu là quyết định gia hạn. Bot cần từ chối tự quyết định và cho người học chuyển TA.”</a:t>
            </a:r>
          </a:p>
          <a:p xmlns:a="http://schemas.openxmlformats.org/drawingml/2006/main">
            <a:r>
              <a:t>3. Bấm **Chuyển TA**. Đọc đúng trạng thái hiện trên màn hình. Nếu là local: “Ticket đã được lưu trên máy chủ; chưa gửi đến Discord vì chưa cấu hình kênh TA.” Không nói TA đã nhận.</a:t>
            </a:r>
          </a:p>
          <a:p xmlns:a="http://schemas.openxmlformats.org/drawingml/2006/main">
            <a:r>
              <a:t/>
            </a:r>
          </a:p>
          <a:p xmlns:a="http://schemas.openxmlformats.org/drawingml/2006/main">
            <a:r>
              <a:t>**3:20–3:45 — chốt, chuyển người:**</a:t>
            </a:r>
          </a:p>
          <a:p xmlns:a="http://schemas.openxmlformats.org/drawingml/2006/main">
            <a:r>
              <a:t/>
            </a:r>
          </a:p>
          <a:p xmlns:a="http://schemas.openxmlformats.org/drawingml/2006/main">
            <a:r>
              <a:t>&gt; Hai ca cho thấy cả đường có thể hỗ trợ và đường cần dừng lại. Người học cũng có thể đánh dấu câu trả lời chưa đúng. Chuyển TA là quyền lựa chọn của người dùng, không phải bằng chứng rằng mọi câu trả lời AI đều đáng tin. Trường sẽ trình bày kết quả đo và lỗi nhóm đã tìm thấy.</a:t>
            </a:r>
          </a:p>
          <a:p xmlns:a="http://schemas.openxmlformats.org/drawingml/2006/main">
            <a:r>
              <a:t/>
            </a:r>
          </a:p>
          <a:p xmlns:a="http://schemas.openxmlformats.org/drawingml/2006/main">
            <a:r>
              <a:t>**Khi live trục trặc:** chờ tối đa khoảng 10 giây trước khi quyết định chuyển video đã kiểm tra. Nói: “Kết nối đang chậm; nhóm xin dùng bản ghi chạy thật để giữ thời lượng.” Nếu không có video phù hợp, hiển thị log đã lưu và nói rõ đó là kết quả lần chạy trước; không coi log là video dự phòng đã đáp ứng yêu cầu BTC. Không dùng video thay live khi live hoạt động bình thường.</a:t>
            </a:r>
          </a:p>
          <a:p xmlns:a="http://schemas.openxmlformats.org/drawingml/2006/main">
            <a:r>
              <a:t/>
            </a:r>
          </a:p>
          <a:p xmlns:a="http://schemas.openxmlformats.org/drawingml/2006/main">
            <a:r>
              <a:t/>
            </a:r>
          </a:p>
          <a:p xmlns:a="http://schemas.openxmlformats.org/drawingml/2006/main">
            <a:r>
              <a:t/>
            </a:r>
          </a:p>
          <a:p xmlns:a="http://schemas.openxmlformats.org/drawingml/2006/main">
            <a:r>
              <a:t>Chuyển sang web lúc 1:55. Demo thật hai ca. Không khẳng định ticket đã gửi nếu trạng thái còn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4 — Đúng nhánh chưa có nghĩa là đúng toàn bộ nội dung</a:t>
            </a:r>
          </a:p>
          <a:p xmlns:a="http://schemas.openxmlformats.org/drawingml/2006/main">
            <a:r>
              <a:t/>
            </a:r>
          </a:p>
          <a:p xmlns:a="http://schemas.openxmlformats.org/drawingml/2006/main">
            <a:r>
              <a:t>**Chỉ chiếu:**</a:t>
            </a:r>
          </a:p>
          <a:p xmlns:a="http://schemas.openxmlformats.org/drawingml/2006/main">
            <a:r>
              <a:t/>
            </a:r>
          </a:p>
          <a:p xmlns:a="http://schemas.openxmlformats.org/drawingml/2006/main">
            <a:r>
              <a:t>- 20 câu = 8 FOUND + 4 CLARIFY + 8 NOT_FOUND.</a:t>
            </a:r>
          </a:p>
          <a:p xmlns:a="http://schemas.openxmlformats.org/drawingml/2006/main">
            <a:r>
              <a:t>- 20/20 đúng nhánh và ID nguồn kỳ vọng; 8 phản hồi AI thật trên 8 ca cần gọi AI.</a:t>
            </a:r>
          </a:p>
          <a:p xmlns:a="http://schemas.openxmlformats.org/drawingml/2006/main">
            <a:r>
              <a:t>- Bar trong spec §7: “≥85% đúng nhánh và nguồn; 100% không bịa khẳng định khi thiếu nguồn”.</a:t>
            </a:r>
          </a:p>
          <a:p xmlns:a="http://schemas.openxmlformats.org/drawingml/2006/main">
            <a:r>
              <a:t>- Nội dung: 19/20 theo rà soát của trợ lý xây dựng, **chưa nghiệm thu chuyên môn**.</a:t>
            </a:r>
          </a:p>
          <a:p xmlns:a="http://schemas.openxmlformats.org/drawingml/2006/main">
            <a:r>
              <a:t/>
            </a:r>
          </a:p>
          <a:p xmlns:a="http://schemas.openxmlformats.org/drawingml/2006/main">
            <a:r>
              <a:t>Chân slide: `eval/results-live.json; eval/REPORT.md; spec.md §7`.</a:t>
            </a:r>
          </a:p>
          <a:p xmlns:a="http://schemas.openxmlformats.org/drawingml/2006/main">
            <a:r>
              <a:t/>
            </a:r>
          </a:p>
          <a:p xmlns:a="http://schemas.openxmlformats.org/drawingml/2006/main">
            <a:r>
              <a:t>**Trường, 3:45–4:35:**</a:t>
            </a:r>
          </a:p>
          <a:p xmlns:a="http://schemas.openxmlformats.org/drawingml/2006/main">
            <a:r>
              <a:t/>
            </a:r>
          </a:p>
          <a:p xmlns:a="http://schemas.openxmlformats.org/drawingml/2006/main">
            <a:r>
              <a:t>&gt; Bộ test hiện có 20 câu: tám câu cần trả lời có nguồn, bốn câu cần hỏi lại và tám câu cần từ chối. Lượt live đạt 20 trên 20 về nhánh xử lý và mã nguồn kỳ vọng, với tám phản hồi AI thật.</a:t>
            </a:r>
          </a:p>
          <a:p xmlns:a="http://schemas.openxmlformats.org/drawingml/2006/main">
            <a:r>
              <a:t>&gt;</a:t>
            </a:r>
          </a:p>
          <a:p xmlns:a="http://schemas.openxmlformats.org/drawingml/2006/main">
            <a:r>
              <a:t>&gt; So với bar ghi trong spec là ít nhất 85% đúng nhánh và nguồn, chỉ số này vượt ngưỡng. Tuy nhiên, nó chưa chứng minh điều kiện không bịa nội dung. Con số 19 trên 20 về nội dung mới là rà soát của trợ lý xây dựng, chưa được người đánh giá chuyên môn xác nhận.</a:t>
            </a:r>
          </a:p>
          <a:p xmlns:a="http://schemas.openxmlformats.org/drawingml/2006/main">
            <a:r>
              <a:t>&gt;</a:t>
            </a:r>
          </a:p>
          <a:p xmlns:a="http://schemas.openxmlformats.org/drawingml/2006/main">
            <a:r>
              <a:t>&gt; Vì vậy nhóm chỉ kết luận prototype đã chạy và đo được, chưa tuyên bố đạt mọi điều kiện chất lượng hay sẵn sàng triển khai rộng.</a:t>
            </a:r>
          </a:p>
          <a:p xmlns:a="http://schemas.openxmlformats.org/drawingml/2006/main">
            <a:r>
              <a:t/>
            </a:r>
          </a:p>
          <a:p xmlns:a="http://schemas.openxmlformats.org/drawingml/2006/main">
            <a:r>
              <a:t>**Ghi chú cho người trình bày:** spec đồng thời ghi routing 100%. Kết quả lưu hiện tại đạt cả 100% và ≥85% ở phần routing, nhưng sự không thống nhất vẫn phải khai nếu được hỏi. Không âm thầm sửa chuẩn CP4 hoặc gọi đây là bar đã chốt trước mọi thử nghiệm khi chưa có bằng chứng về trình tự.</a:t>
            </a:r>
          </a:p>
          <a:p xmlns:a="http://schemas.openxmlformats.org/drawingml/2006/main">
            <a:r>
              <a:t/>
            </a:r>
          </a:p>
          <a:p xmlns:a="http://schemas.openxmlformats.org/drawingml/2006/main">
            <a:r>
              <a:t/>
            </a:r>
          </a:p>
          <a:p xmlns:a="http://schemas.openxmlformats.org/drawingml/2006/main">
            <a:r>
              <a:t/>
            </a:r>
          </a:p>
          <a:p xmlns:a="http://schemas.openxmlformats.org/drawingml/2006/main">
            <a:r>
              <a:t>Spec còn ghi routing 100%; kết quả đáp ứng cả hai ngưỡng routing nhưng chưa chứng minh điều kiện nội dung.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5 — Một lỗi chỉ ra giới hạn của cách kiểm tra</a:t>
            </a:r>
          </a:p>
          <a:p xmlns:a="http://schemas.openxmlformats.org/drawingml/2006/main">
            <a:r>
              <a:t/>
            </a:r>
          </a:p>
          <a:p xmlns:a="http://schemas.openxmlformats.org/drawingml/2006/main">
            <a:r>
              <a:t>Guide cho phép thay validation bằng phân tích golden set khi chưa làm dùng thử. **Không tạo quote giả.**</a:t>
            </a:r>
          </a:p>
          <a:p xmlns:a="http://schemas.openxmlformats.org/drawingml/2006/main">
            <a:r>
              <a:t/>
            </a:r>
          </a:p>
          <a:p xmlns:a="http://schemas.openxmlformats.org/drawingml/2006/main">
            <a:r>
              <a:t>**Chỉ chiếu:** “Case 6: Docker image tag → bị diễn đạt thành tag hình ảnh”; “Đúng ID nguồn ≠ nội dung được nguồn chứng minh”; “Chưa có log validation”. Chân slide: `eval/results-live.json, case 6; eval/REPORT.md; docs/SPEC-REVIEW.md`.</a:t>
            </a:r>
          </a:p>
          <a:p xmlns:a="http://schemas.openxmlformats.org/drawingml/2006/main">
            <a:r>
              <a:t/>
            </a:r>
          </a:p>
          <a:p xmlns:a="http://schemas.openxmlformats.org/drawingml/2006/main">
            <a:r>
              <a:t>**Trường, 4:35–5:25:**</a:t>
            </a:r>
          </a:p>
          <a:p xmlns:a="http://schemas.openxmlformats.org/drawingml/2006/main">
            <a:r>
              <a:t/>
            </a:r>
          </a:p>
          <a:p xmlns:a="http://schemas.openxmlformats.org/drawingml/2006/main">
            <a:r>
              <a:t>&gt; Ở case sáu, câu hỏi nói về tag của Docker image, nhưng câu trả lời lại diễn đạt thành “tag hình ảnh”. Phiên bản đúng, mã nguồn đúng, nhưng nghĩa kỹ thuật đã lệch.</a:t>
            </a:r>
          </a:p>
          <a:p xmlns:a="http://schemas.openxmlformats.org/drawingml/2006/main">
            <a:r>
              <a:t>&gt;</a:t>
            </a:r>
          </a:p>
          <a:p xmlns:a="http://schemas.openxmlformats.org/drawingml/2006/main">
            <a:r>
              <a:t>&gt; Lỗi này cho thấy cách chấm nhánh và ID chưa đủ để đánh giá câu trả lời. Kiểm tra mã nguồn tồn tại cũng không bảo đảm mọi hướng dẫn được nguồn hỗ trợ.</a:t>
            </a:r>
          </a:p>
          <a:p xmlns:a="http://schemas.openxmlformats.org/drawingml/2006/main">
            <a:r>
              <a:t>&gt;</a:t>
            </a:r>
          </a:p>
          <a:p xmlns:a="http://schemas.openxmlformats.org/drawingml/2006/main">
            <a:r>
              <a:t>&gt; Nhóm chưa có log dùng thử với người ngoài nên không đưa lời khen hoặc tỷ lệ hài lòng vào bài. Việc tiếp theo là cho hai người chấm độc lập các output khó và kiểm tra nội dung hướng dẫn sát với nguồn. Chúng em chưa có kết quả chạy lại chứng minh lỗi này đã được sửa. Dương sẽ chốt ba ưu tiên tiếp theo.</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6 — Một tuần để kiểm chứng trước khi mở rộng</a:t>
            </a:r>
          </a:p>
          <a:p xmlns:a="http://schemas.openxmlformats.org/drawingml/2006/main">
            <a:r>
              <a:t/>
            </a:r>
          </a:p>
          <a:p xmlns:a="http://schemas.openxmlformats.org/drawingml/2006/main">
            <a:r>
              <a:t>**Chỉ chiếu 3 việc:**</a:t>
            </a:r>
          </a:p>
          <a:p xmlns:a="http://schemas.openxmlformats.org/drawingml/2006/main">
            <a:r>
              <a:t/>
            </a:r>
          </a:p>
          <a:p xmlns:a="http://schemas.openxmlformats.org/drawingml/2006/main">
            <a:r>
              <a:t>1. Từ case 6: kiểm tra nội dung và thuật ngữ, sửa rồi chạy lại đủ 20 câu.</a:t>
            </a:r>
          </a:p>
          <a:p xmlns:a="http://schemas.openxmlformats.org/drawingml/2006/main">
            <a:r>
              <a:t>2. Từ giới hạn 4 nguồn: TA duyệt nguồn và bổ sung những câu kỹ thuật chưa được hỗ trợ.</a:t>
            </a:r>
          </a:p>
          <a:p xmlns:a="http://schemas.openxmlformats.org/drawingml/2006/main">
            <a:r>
              <a:t>3. Từ thiếu validation: thử với 5 người ngoài nhóm và kiểm chứng luồng Discord → TA.</a:t>
            </a:r>
          </a:p>
          <a:p xmlns:a="http://schemas.openxmlformats.org/drawingml/2006/main">
            <a:r>
              <a:t/>
            </a:r>
          </a:p>
          <a:p xmlns:a="http://schemas.openxmlformats.org/drawingml/2006/main">
            <a:r>
              <a:t>Chân slide: `eval/REPORT.md; src/knowledge.js; docs/SPEC-REVIEW.md`.</a:t>
            </a:r>
          </a:p>
          <a:p xmlns:a="http://schemas.openxmlformats.org/drawingml/2006/main">
            <a:r>
              <a:t/>
            </a:r>
          </a:p>
          <a:p xmlns:a="http://schemas.openxmlformats.org/drawingml/2006/main">
            <a:r>
              <a:t>**Dương, 5:25–6:00:**</a:t>
            </a:r>
          </a:p>
          <a:p xmlns:a="http://schemas.openxmlformats.org/drawingml/2006/main">
            <a:r>
              <a:t/>
            </a:r>
          </a:p>
          <a:p xmlns:a="http://schemas.openxmlformats.org/drawingml/2006/main">
            <a:r>
              <a:t>&gt; Nếu có thêm một tuần, nhóm ưu tiên ba việc: sửa lỗi nội dung rồi chạy lại toàn bộ test; nhờ TA duyệt và mở rộng nguồn; cuối cùng là dùng thử với năm người ngoài nhóm và kiểm chứng đường chuyển TA trên Discord.</a:t>
            </a:r>
          </a:p>
          <a:p xmlns:a="http://schemas.openxmlformats.org/drawingml/2006/main">
            <a:r>
              <a:t>&gt;</a:t>
            </a:r>
          </a:p>
          <a:p xmlns:a="http://schemas.openxmlformats.org/drawingml/2006/main">
            <a:r>
              <a:t>&gt; Bài học lớn nhất của nhóm là một câu trả lời có dẫn nguồn vẫn cần được kiểm tra xem nguồn có thực sự chứng minh nó hay không. Kute hiện chứng minh được một lát cắt nhỏ có AI thật và có đường lui khi không đủ căn cứ. Nhóm mong nhận góp ý để kiểm chứng mức hữu ích đó với học viên. Xin cảm ơn.</a:t>
            </a:r>
          </a:p>
          <a:p xmlns:a="http://schemas.openxmlformats.org/drawingml/2006/main">
            <a:r>
              <a:t/>
            </a:r>
          </a:p>
          <a:p xmlns:a="http://schemas.openxmlformats.org/drawingml/2006/main">
            <a:r>
              <a:t/>
            </a:r>
          </a:p>
          <a:p xmlns:a="http://schemas.openxmlformats.org/drawingml/2006/main">
            <a:r>
              <a:t/>
            </a:r>
          </a:p>
          <a:p xmlns:a="http://schemas.openxmlformats.org/drawingml/2006/main">
            <a:r>
              <a:t>Nhóm: Trần Quốc Bảo Long, Ngô Minh Trí, Nguyễn Thanh Dương, Đào Thanh Trường. Kế hoạch tương lai, chưa phải việc đã hoàn tất.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dea0ccc72547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c2e5ecb95e4efe" /><Relationship Type="http://schemas.openxmlformats.org/officeDocument/2006/relationships/slideLayout" Target="/ppt/slideLayouts/slideLayout1.xml" Id="R2cac3228432a45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ac3228432a45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ece4b980fd46c7" /><Relationship Type="http://schemas.openxmlformats.org/officeDocument/2006/relationships/notesSlide" Target="/ppt/notesSlides/notesSlide1.xml" Id="R482fbcaeb98146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9714b7be6a4217" /><Relationship Type="http://schemas.openxmlformats.org/officeDocument/2006/relationships/notesSlide" Target="/ppt/notesSlides/notesSlide2.xml" Id="Rb0063ab05b5e4a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9cc594d10d44f1" /><Relationship Type="http://schemas.openxmlformats.org/officeDocument/2006/relationships/notesSlide" Target="/ppt/notesSlides/notesSlide3.xml" Id="Rff83a21d83e441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ccee004f6d485b" /><Relationship Type="http://schemas.openxmlformats.org/officeDocument/2006/relationships/notesSlide" Target="/ppt/notesSlides/notesSlide4.xml" Id="Rc1449eb1c27e47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2d10db9dc44f0d" /><Relationship Type="http://schemas.openxmlformats.org/officeDocument/2006/relationships/notesSlide" Target="/ppt/notesSlides/notesSlide5.xml" Id="Ree4e493229d343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79b72dc80c4dc3" /><Relationship Type="http://schemas.openxmlformats.org/officeDocument/2006/relationships/notesSlide" Target="/ppt/notesSlides/notesSlide6.xml" Id="R61e5f0da0b85406f" /></Relationships>
</file>

<file path=ppt/slides/slide1.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58990B-B557-484A-A80E-87AB01C1DEB9}"/>
              </a:ext>
            </a:extLst>
          </p:cNvPr>
          <p:cNvSpPr>
            <a:spLocks xmlns:a="http://schemas.openxmlformats.org/drawingml/2006/main" noGrp="1"/>
          </p:cNvSpPr>
          <p:nvPr/>
        </p:nvSpPr>
        <p:spPr>
          <a:xfrm xmlns:a="http://schemas.openxmlformats.org/drawingml/2006/main">
            <a:off x="609600" y="285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6E0B5"/>
                </a:solidFill>
                <a:latin typeface="Arial"/>
                <a:ea typeface="Arial"/>
                <a:cs typeface="Arial"/>
              </a:defRPr>
            </a:pPr>
            <a:r>
              <a:rPr sz="1200" b="1">
                <a:solidFill>
                  <a:srgbClr val="66E0B5"/>
                </a:solidFill>
                <a:latin typeface="Arial"/>
                <a:ea typeface="Arial"/>
                <a:cs typeface="Arial"/>
              </a:rPr>
              <a:t>KUTE / AI THỰC CHIẾN</a:t>
            </a:r>
          </a:p>
        </p:txBody>
      </p:sp>
      <p:sp>
        <p:nvSpPr>
          <p:cNvPr id="2" name="">
            <a:extLst xmlns:a="http://schemas.openxmlformats.org/drawingml/2006/main">
              <a:ext uri="{FF2B5EF4-FFF2-40B4-BE49-F238E27FC236}">
                <a16:creationId xmlns:a16="http://schemas.microsoft.com/office/drawing/2014/main" id="{3138E0C3-100D-4288-8B87-BDB550EB0767}"/>
              </a:ext>
            </a:extLst>
          </p:cNvPr>
          <p:cNvSpPr>
            <a:spLocks xmlns:a="http://schemas.openxmlformats.org/drawingml/2006/main" noGrp="1"/>
          </p:cNvSpPr>
          <p:nvPr/>
        </p:nvSpPr>
        <p:spPr>
          <a:xfrm xmlns:a="http://schemas.openxmlformats.org/drawingml/2006/main">
            <a:off x="10572750" y="2857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01 / 06</a:t>
            </a:r>
          </a:p>
        </p:txBody>
      </p:sp>
      <p:sp>
        <p:nvSpPr>
          <p:cNvPr id="3" name="">
            <a:extLst xmlns:a="http://schemas.openxmlformats.org/drawingml/2006/main">
              <a:ext uri="{FF2B5EF4-FFF2-40B4-BE49-F238E27FC236}">
                <a16:creationId xmlns:a16="http://schemas.microsoft.com/office/drawing/2014/main" id="{5491BD5D-6D5B-4561-80BF-34400D822A7E}"/>
              </a:ext>
            </a:extLst>
          </p:cNvPr>
          <p:cNvSpPr>
            <a:spLocks xmlns:a="http://schemas.openxmlformats.org/drawingml/2006/main" noGrp="1"/>
          </p:cNvSpPr>
          <p:nvPr/>
        </p:nvSpPr>
        <p:spPr>
          <a:xfrm xmlns:a="http://schemas.openxmlformats.org/drawingml/2006/main">
            <a:off x="609600" y="8477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Học viên cần tiếp tục bài lab</a:t>
            </a:r>
          </a:p>
        </p:txBody>
      </p:sp>
      <p:sp>
        <p:nvSpPr>
          <p:cNvPr id="4" name="">
            <a:extLst xmlns:a="http://schemas.openxmlformats.org/drawingml/2006/main">
              <a:ext uri="{FF2B5EF4-FFF2-40B4-BE49-F238E27FC236}">
                <a16:creationId xmlns:a16="http://schemas.microsoft.com/office/drawing/2014/main" id="{A4F226DA-DC27-4C29-960C-C0EAA8360497}"/>
              </a:ext>
            </a:extLst>
          </p:cNvPr>
          <p:cNvSpPr>
            <a:spLocks xmlns:a="http://schemas.openxmlformats.org/drawingml/2006/main" noGrp="1"/>
          </p:cNvSpPr>
          <p:nvPr/>
        </p:nvSpPr>
        <p:spPr>
          <a:xfrm xmlns:a="http://schemas.openxmlformats.org/drawingml/2006/main">
            <a:off x="609600" y="6372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AB8C5"/>
                </a:solidFill>
                <a:latin typeface="Arial"/>
                <a:ea typeface="Arial"/>
                <a:cs typeface="Arial"/>
              </a:defRPr>
            </a:pPr>
            <a:r>
              <a:rPr sz="1050" b="0">
                <a:solidFill>
                  <a:srgbClr val="AAB8C5"/>
                </a:solidFill>
                <a:latin typeface="Arial"/>
                <a:ea typeface="Arial"/>
                <a:cs typeface="Arial"/>
              </a:rPr>
              <a:t>Nguồn: k4_messages.csv, M07901; eval/evidence.json. Dữ liệu onboarding 12–14/09/2026.</a:t>
            </a:r>
          </a:p>
        </p:txBody>
      </p:sp>
      <p:sp>
        <p:nvSpPr>
          <p:cNvPr id="5" name="">
            <a:extLst xmlns:a="http://schemas.openxmlformats.org/drawingml/2006/main">
              <a:ext uri="{FF2B5EF4-FFF2-40B4-BE49-F238E27FC236}">
                <a16:creationId xmlns:a16="http://schemas.microsoft.com/office/drawing/2014/main" id="{55329034-8F50-401F-9ED6-DA97D5A28E30}"/>
              </a:ext>
            </a:extLst>
          </p:cNvPr>
          <p:cNvSpPr>
            <a:spLocks xmlns:a="http://schemas.openxmlformats.org/drawingml/2006/main" noGrp="1"/>
          </p:cNvSpPr>
          <p:nvPr/>
        </p:nvSpPr>
        <p:spPr>
          <a:xfrm xmlns:a="http://schemas.openxmlformats.org/drawingml/2006/main">
            <a:off x="609600" y="2114550"/>
            <a:ext cx="7191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3F6F7"/>
                </a:solidFill>
                <a:latin typeface="Arial"/>
                <a:ea typeface="Arial"/>
                <a:cs typeface="Arial"/>
              </a:defRPr>
            </a:pPr>
            <a:r>
              <a:rPr sz="2850" b="1">
                <a:solidFill>
                  <a:srgbClr val="F3F6F7"/>
                </a:solidFill>
                <a:latin typeface="Arial"/>
                <a:ea typeface="Arial"/>
                <a:cs typeface="Arial"/>
              </a:rPr>
              <a:t>“Hi, mình vẫn chưa cài được CVAT.</a:t>
            </a:r>
          </a:p>
          <a:p xmlns:a="http://schemas.openxmlformats.org/drawingml/2006/main">
            <a:pPr>
              <a:defRPr sz="2850" b="1">
                <a:solidFill>
                  <a:srgbClr val="F3F6F7"/>
                </a:solidFill>
                <a:latin typeface="Arial"/>
                <a:ea typeface="Arial"/>
                <a:cs typeface="Arial"/>
              </a:defRPr>
            </a:pPr>
            <a:r>
              <a:rPr sz="2850" b="1">
                <a:solidFill>
                  <a:srgbClr val="F3F6F7"/>
                </a:solidFill>
                <a:latin typeface="Arial"/>
                <a:ea typeface="Arial"/>
                <a:cs typeface="Arial"/>
              </a:rPr>
              <a:t>Có bạn nào hỗ trợ được</a:t>
            </a:r>
          </a:p>
          <a:p xmlns:a="http://schemas.openxmlformats.org/drawingml/2006/main">
            <a:pPr>
              <a:defRPr sz="2850" b="1">
                <a:solidFill>
                  <a:srgbClr val="F3F6F7"/>
                </a:solidFill>
                <a:latin typeface="Arial"/>
                <a:ea typeface="Arial"/>
                <a:cs typeface="Arial"/>
              </a:defRPr>
            </a:pPr>
            <a:r>
              <a:rPr sz="2850" b="1">
                <a:solidFill>
                  <a:srgbClr val="F3F6F7"/>
                </a:solidFill>
                <a:latin typeface="Arial"/>
                <a:ea typeface="Arial"/>
                <a:cs typeface="Arial"/>
              </a:rPr>
              <a:t>mình không?”</a:t>
            </a:r>
          </a:p>
        </p:txBody>
      </p:sp>
      <p:sp>
        <p:nvSpPr>
          <p:cNvPr id="6" name="">
            <a:extLst xmlns:a="http://schemas.openxmlformats.org/drawingml/2006/main">
              <a:ext uri="{FF2B5EF4-FFF2-40B4-BE49-F238E27FC236}">
                <a16:creationId xmlns:a16="http://schemas.microsoft.com/office/drawing/2014/main" id="{5BFC0A67-DFE7-4C8F-9DBC-1EC9775FFF84}"/>
              </a:ext>
            </a:extLst>
          </p:cNvPr>
          <p:cNvSpPr>
            <a:spLocks xmlns:a="http://schemas.openxmlformats.org/drawingml/2006/main" noGrp="1"/>
          </p:cNvSpPr>
          <p:nvPr/>
        </p:nvSpPr>
        <p:spPr>
          <a:xfrm xmlns:a="http://schemas.openxmlformats.org/drawingml/2006/main">
            <a:off x="609600" y="3857625"/>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8C5"/>
                </a:solidFill>
                <a:latin typeface="Arial"/>
                <a:ea typeface="Arial"/>
                <a:cs typeface="Arial"/>
              </a:defRPr>
            </a:pPr>
            <a:r>
              <a:rPr sz="1500" b="0">
                <a:solidFill>
                  <a:srgbClr val="AAB8C5"/>
                </a:solidFill>
                <a:latin typeface="Arial"/>
                <a:ea typeface="Arial"/>
                <a:cs typeface="Arial"/>
              </a:rPr>
              <a:t>M07901 / Học viên hỏi hỗ trợ cài đặt</a:t>
            </a:r>
          </a:p>
        </p:txBody>
      </p:sp>
      <p:sp>
        <p:nvSpPr>
          <p:cNvPr id="7" name="">
            <a:extLst xmlns:a="http://schemas.openxmlformats.org/drawingml/2006/main">
              <a:ext uri="{FF2B5EF4-FFF2-40B4-BE49-F238E27FC236}">
                <a16:creationId xmlns:a16="http://schemas.microsoft.com/office/drawing/2014/main" id="{BAF9F90E-5659-47C3-92DA-228061390597}"/>
              </a:ext>
            </a:extLst>
          </p:cNvPr>
          <p:cNvSpPr>
            <a:spLocks xmlns:a="http://schemas.openxmlformats.org/drawingml/2006/main" noGrp="1"/>
          </p:cNvSpPr>
          <p:nvPr/>
        </p:nvSpPr>
        <p:spPr>
          <a:xfrm xmlns:a="http://schemas.openxmlformats.org/drawingml/2006/main">
            <a:off x="8572500" y="2105025"/>
            <a:ext cx="285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66E0B5"/>
                </a:solidFill>
                <a:latin typeface="Arial"/>
                <a:ea typeface="Arial"/>
                <a:cs typeface="Arial"/>
              </a:defRPr>
            </a:pPr>
            <a:r>
              <a:rPr sz="5850" b="1">
                <a:solidFill>
                  <a:srgbClr val="66E0B5"/>
                </a:solidFill>
                <a:latin typeface="Arial"/>
                <a:ea typeface="Arial"/>
                <a:cs typeface="Arial"/>
              </a:rPr>
              <a:t>1.092</a:t>
            </a:r>
          </a:p>
        </p:txBody>
      </p:sp>
      <p:sp>
        <p:nvSpPr>
          <p:cNvPr id="8" name="">
            <a:extLst xmlns:a="http://schemas.openxmlformats.org/drawingml/2006/main">
              <a:ext uri="{FF2B5EF4-FFF2-40B4-BE49-F238E27FC236}">
                <a16:creationId xmlns:a16="http://schemas.microsoft.com/office/drawing/2014/main" id="{83BC78CB-635E-4D68-8187-49F7CA62738F}"/>
              </a:ext>
            </a:extLst>
          </p:cNvPr>
          <p:cNvSpPr>
            <a:spLocks xmlns:a="http://schemas.openxmlformats.org/drawingml/2006/main" noGrp="1"/>
          </p:cNvSpPr>
          <p:nvPr/>
        </p:nvSpPr>
        <p:spPr>
          <a:xfrm xmlns:a="http://schemas.openxmlformats.org/drawingml/2006/main">
            <a:off x="8572500" y="305752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7"/>
                </a:solidFill>
                <a:latin typeface="Arial"/>
                <a:ea typeface="Arial"/>
                <a:cs typeface="Arial"/>
              </a:defRPr>
            </a:pPr>
            <a:r>
              <a:rPr sz="1875" b="0">
                <a:solidFill>
                  <a:srgbClr val="F3F6F7"/>
                </a:solidFill>
                <a:latin typeface="Arial"/>
                <a:ea typeface="Arial"/>
                <a:cs typeface="Arial"/>
              </a:rPr>
              <a:t>tin nhắn trong bộ dữ liệu</a:t>
            </a:r>
          </a:p>
        </p:txBody>
      </p:sp>
      <p:sp>
        <p:nvSpPr>
          <p:cNvPr id="9" name="">
            <a:extLst xmlns:a="http://schemas.openxmlformats.org/drawingml/2006/main">
              <a:ext uri="{FF2B5EF4-FFF2-40B4-BE49-F238E27FC236}">
                <a16:creationId xmlns:a16="http://schemas.microsoft.com/office/drawing/2014/main" id="{7843F325-F4E2-406C-8272-D84000675834}"/>
              </a:ext>
            </a:extLst>
          </p:cNvPr>
          <p:cNvSpPr>
            <a:spLocks xmlns:a="http://schemas.openxmlformats.org/drawingml/2006/main" noGrp="1"/>
          </p:cNvSpPr>
          <p:nvPr/>
        </p:nvSpPr>
        <p:spPr>
          <a:xfrm xmlns:a="http://schemas.openxmlformats.org/drawingml/2006/main">
            <a:off x="8572500" y="40290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779 tin người gửi</a:t>
            </a:r>
          </a:p>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313 tin bot</a:t>
            </a:r>
          </a:p>
        </p:txBody>
      </p:sp>
      <p:sp>
        <p:nvSpPr>
          <p:cNvPr id="10" name="">
            <a:extLst xmlns:a="http://schemas.openxmlformats.org/drawingml/2006/main">
              <a:ext uri="{FF2B5EF4-FFF2-40B4-BE49-F238E27FC236}">
                <a16:creationId xmlns:a16="http://schemas.microsoft.com/office/drawing/2014/main" id="{3AC5D4DA-30AA-4A21-A81D-00A6DD4F63A2}"/>
              </a:ext>
            </a:extLst>
          </p:cNvPr>
          <p:cNvSpPr>
            <a:spLocks xmlns:a="http://schemas.openxmlformats.org/drawingml/2006/main" noGrp="1"/>
          </p:cNvSpPr>
          <p:nvPr/>
        </p:nvSpPr>
        <p:spPr>
          <a:xfrm xmlns:a="http://schemas.openxmlformats.org/drawingml/2006/main">
            <a:off x="609600" y="4895850"/>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6E0B5"/>
                </a:solidFill>
                <a:latin typeface="Arial"/>
                <a:ea typeface="Arial"/>
                <a:cs typeface="Arial"/>
              </a:defRPr>
            </a:pPr>
            <a:r>
              <a:rPr sz="2175" b="0">
                <a:solidFill>
                  <a:srgbClr val="66E0B5"/>
                </a:solidFill>
                <a:latin typeface="Arial"/>
                <a:ea typeface="Arial"/>
                <a:cs typeface="Arial"/>
              </a:rPr>
              <a:t>Kute hỗ trợ học viên tìm hướng dẫn có căn cứ</a:t>
            </a:r>
          </a:p>
          <a:p xmlns:a="http://schemas.openxmlformats.org/drawingml/2006/main">
            <a:pPr>
              <a:defRPr sz="2175" b="0">
                <a:solidFill>
                  <a:srgbClr val="66E0B5"/>
                </a:solidFill>
                <a:latin typeface="Arial"/>
                <a:ea typeface="Arial"/>
                <a:cs typeface="Arial"/>
              </a:defRPr>
            </a:pPr>
            <a:r>
              <a:rPr sz="2175" b="0">
                <a:solidFill>
                  <a:srgbClr val="66E0B5"/>
                </a:solidFill>
                <a:latin typeface="Arial"/>
                <a:ea typeface="Arial"/>
                <a:cs typeface="Arial"/>
              </a:rPr>
              <a:t>để xử lý lỗi cài đặt và tiếp tục thực hành.</a:t>
            </a:r>
          </a:p>
        </p:txBody>
      </p:sp>
      <p:sp>
        <p:nvSpPr>
          <p:cNvPr id="11" name="">
            <a:extLst xmlns:a="http://schemas.openxmlformats.org/drawingml/2006/main">
              <a:ext uri="{FF2B5EF4-FFF2-40B4-BE49-F238E27FC236}">
                <a16:creationId xmlns:a16="http://schemas.microsoft.com/office/drawing/2014/main" id="{9CC40758-78A4-4E28-9CAB-752108BDCCF9}"/>
              </a:ext>
            </a:extLst>
          </p:cNvPr>
          <p:cNvSpPr>
            <a:spLocks xmlns:a="http://schemas.openxmlformats.org/drawingml/2006/main" noGrp="1"/>
          </p:cNvSpPr>
          <p:nvPr/>
        </p:nvSpPr>
        <p:spPr>
          <a:xfrm xmlns:a="http://schemas.openxmlformats.org/drawingml/2006/main">
            <a:off x="609600" y="58769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AB8C5"/>
                </a:solidFill>
                <a:latin typeface="Arial"/>
                <a:ea typeface="Arial"/>
                <a:cs typeface="Arial"/>
              </a:defRPr>
            </a:pPr>
            <a:r>
              <a:rPr sz="1350" b="0">
                <a:solidFill>
                  <a:srgbClr val="AAB8C5"/>
                </a:solidFill>
                <a:latin typeface="Arial"/>
                <a:ea typeface="Arial"/>
                <a:cs typeface="Arial"/>
              </a:rPr>
              <a:t>Không Biết Tên / K4–3A–E402</a:t>
            </a:r>
          </a:p>
        </p:txBody>
      </p:sp>
    </p:spTree>
    <p:extLst>
      <p:ext uri="{BB962C8B-B14F-4D97-AF65-F5344CB8AC3E}">
        <p14:creationId xmlns:p14="http://schemas.microsoft.com/office/powerpoint/2010/main" val="2077116880"/>
      </p:ext>
    </p:extLst>
  </p:cSld>
</p:sld>
</file>

<file path=ppt/slides/slide2.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444565-5663-4479-BD2E-6B6111439110}"/>
              </a:ext>
            </a:extLst>
          </p:cNvPr>
          <p:cNvSpPr>
            <a:spLocks xmlns:a="http://schemas.openxmlformats.org/drawingml/2006/main" noGrp="1"/>
          </p:cNvSpPr>
          <p:nvPr/>
        </p:nvSpPr>
        <p:spPr>
          <a:xfrm xmlns:a="http://schemas.openxmlformats.org/drawingml/2006/main">
            <a:off x="609600" y="285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6E0B5"/>
                </a:solidFill>
                <a:latin typeface="Arial"/>
                <a:ea typeface="Arial"/>
                <a:cs typeface="Arial"/>
              </a:defRPr>
            </a:pPr>
            <a:r>
              <a:rPr sz="1200" b="1">
                <a:solidFill>
                  <a:srgbClr val="66E0B5"/>
                </a:solidFill>
                <a:latin typeface="Arial"/>
                <a:ea typeface="Arial"/>
                <a:cs typeface="Arial"/>
              </a:rPr>
              <a:t>KUTE / AI THỰC CHIẾN</a:t>
            </a:r>
          </a:p>
        </p:txBody>
      </p:sp>
      <p:sp>
        <p:nvSpPr>
          <p:cNvPr id="2" name="">
            <a:extLst xmlns:a="http://schemas.openxmlformats.org/drawingml/2006/main">
              <a:ext uri="{FF2B5EF4-FFF2-40B4-BE49-F238E27FC236}">
                <a16:creationId xmlns:a16="http://schemas.microsoft.com/office/drawing/2014/main" id="{46AB7EC3-38A0-4D07-A0FD-511FAD6BC961}"/>
              </a:ext>
            </a:extLst>
          </p:cNvPr>
          <p:cNvSpPr>
            <a:spLocks xmlns:a="http://schemas.openxmlformats.org/drawingml/2006/main" noGrp="1"/>
          </p:cNvSpPr>
          <p:nvPr/>
        </p:nvSpPr>
        <p:spPr>
          <a:xfrm xmlns:a="http://schemas.openxmlformats.org/drawingml/2006/main">
            <a:off x="10572750" y="2857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02 / 06</a:t>
            </a:r>
          </a:p>
        </p:txBody>
      </p:sp>
      <p:sp>
        <p:nvSpPr>
          <p:cNvPr id="3" name="">
            <a:extLst xmlns:a="http://schemas.openxmlformats.org/drawingml/2006/main">
              <a:ext uri="{FF2B5EF4-FFF2-40B4-BE49-F238E27FC236}">
                <a16:creationId xmlns:a16="http://schemas.microsoft.com/office/drawing/2014/main" id="{006E0954-D199-44A4-AB36-D28FDBB03D10}"/>
              </a:ext>
            </a:extLst>
          </p:cNvPr>
          <p:cNvSpPr>
            <a:spLocks xmlns:a="http://schemas.openxmlformats.org/drawingml/2006/main" noGrp="1"/>
          </p:cNvSpPr>
          <p:nvPr/>
        </p:nvSpPr>
        <p:spPr>
          <a:xfrm xmlns:a="http://schemas.openxmlformats.org/drawingml/2006/main">
            <a:off x="609600" y="8477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Ba hướng, một lát cắt có thể kiểm chứng</a:t>
            </a:r>
          </a:p>
        </p:txBody>
      </p:sp>
      <p:sp>
        <p:nvSpPr>
          <p:cNvPr id="4" name="">
            <a:extLst xmlns:a="http://schemas.openxmlformats.org/drawingml/2006/main">
              <a:ext uri="{FF2B5EF4-FFF2-40B4-BE49-F238E27FC236}">
                <a16:creationId xmlns:a16="http://schemas.microsoft.com/office/drawing/2014/main" id="{298AB608-C07C-407F-AF88-CED87ACD0170}"/>
              </a:ext>
            </a:extLst>
          </p:cNvPr>
          <p:cNvSpPr>
            <a:spLocks xmlns:a="http://schemas.openxmlformats.org/drawingml/2006/main" noGrp="1"/>
          </p:cNvSpPr>
          <p:nvPr/>
        </p:nvSpPr>
        <p:spPr>
          <a:xfrm xmlns:a="http://schemas.openxmlformats.org/drawingml/2006/main">
            <a:off x="609600" y="6372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AB8C5"/>
                </a:solidFill>
                <a:latin typeface="Arial"/>
                <a:ea typeface="Arial"/>
                <a:cs typeface="Arial"/>
              </a:defRPr>
            </a:pPr>
            <a:r>
              <a:rPr sz="1050" b="0">
                <a:solidFill>
                  <a:srgbClr val="AAB8C5"/>
                </a:solidFill>
                <a:latin typeface="Arial"/>
                <a:ea typeface="Arial"/>
                <a:cs typeface="Arial"/>
              </a:rPr>
              <a:t>Nguồn: eval/evidence.json; scripts/evidence.js. Đếm tin có từ khóa, các nhóm có thể chồng lắp.</a:t>
            </a:r>
          </a:p>
        </p:txBody>
      </p:sp>
      <p:graphicFrame>
        <p:nvGraphicFramePr>
          <p:cNvPr id="12" name=""/>
          <p:cNvGraphicFramePr/>
          <p:nvPr/>
        </p:nvGraphicFramePr>
        <p:xfrm>
          <a:off xmlns:a="http://schemas.openxmlformats.org/drawingml/2006/main" x="609600" y="2095500"/>
          <a:ext xmlns:a="http://schemas.openxmlformats.org/drawingml/2006/main" cx="10972800" cy="3095625"/>
        </p:xfrm>
        <a:graphic xmlns:a="http://schemas.openxmlformats.org/drawingml/2006/main">
          <a:graphicData uri="http://schemas.openxmlformats.org/drawingml/2006/table">
            <a:tbl>
              <a:tblPr/>
              <a:tblGrid>
                <a:gridCol w="3381375"/>
                <a:gridCol w="3381375"/>
                <a:gridCol w="4210050"/>
              </a:tblGrid>
              <a:tr h="552450">
                <a:tc>
                  <a:txBody>
                    <a:bodyPr/>
                    <a:lstStyle/>
                    <a:p>
                      <a:r>
                        <a:rPr sz="1725" b="1">
                          <a:solidFill>
                            <a:srgbClr val="AAB8C5"/>
                          </a:solidFill>
                          <a:latin typeface="Arial"/>
                          <a:ea typeface="Arial"/>
                          <a:cs typeface="Arial"/>
                        </a:rPr>
                        <a:t>Hướng cân nhắc</a:t>
                      </a:r>
                    </a:p>
                  </a:txBody>
                  <a:tcPr marL="91440" marR="91440" marT="45720" marB="45720">
                    <a:solidFill>
                      <a:srgbClr val="111820"/>
                    </a:solidFill>
                  </a:tcPr>
                </a:tc>
                <a:tc>
                  <a:txBody>
                    <a:bodyPr/>
                    <a:lstStyle/>
                    <a:p>
                      <a:r>
                        <a:rPr sz="1725" b="1">
                          <a:solidFill>
                            <a:srgbClr val="AAB8C5"/>
                          </a:solidFill>
                          <a:latin typeface="Arial"/>
                          <a:ea typeface="Arial"/>
                          <a:cs typeface="Arial"/>
                        </a:rPr>
                        <a:t>Tin có từ khóa</a:t>
                      </a:r>
                    </a:p>
                  </a:txBody>
                  <a:tcPr marL="91440" marR="91440" marT="45720" marB="45720">
                    <a:solidFill>
                      <a:srgbClr val="111820"/>
                    </a:solidFill>
                  </a:tcPr>
                </a:tc>
                <a:tc>
                  <a:txBody>
                    <a:bodyPr/>
                    <a:lstStyle/>
                    <a:p>
                      <a:r>
                        <a:rPr sz="1725" b="1">
                          <a:solidFill>
                            <a:srgbClr val="AAB8C5"/>
                          </a:solidFill>
                          <a:latin typeface="Arial"/>
                          <a:ea typeface="Arial"/>
                          <a:cs typeface="Arial"/>
                        </a:rPr>
                        <a:t>Quyết định</a:t>
                      </a:r>
                    </a:p>
                  </a:txBody>
                  <a:tcPr marL="91440" marR="91440" marT="45720" marB="45720">
                    <a:solidFill>
                      <a:srgbClr val="111820"/>
                    </a:solidFill>
                  </a:tcPr>
                </a:tc>
              </a:tr>
              <a:tr h="847725">
                <a:tc>
                  <a:txBody>
                    <a:bodyPr/>
                    <a:lstStyle/>
                    <a:p>
                      <a:r>
                        <a:rPr sz="1950" b="1">
                          <a:solidFill>
                            <a:srgbClr val="66E0B5"/>
                          </a:solidFill>
                          <a:latin typeface="Arial"/>
                          <a:ea typeface="Arial"/>
                          <a:cs typeface="Arial"/>
                        </a:rPr>
                        <a:t>Hỗ trợ kỹ thuật</a:t>
                      </a:r>
                    </a:p>
                  </a:txBody>
                  <a:tcPr marL="91440" marR="91440" marT="45720" marB="45720">
                    <a:solidFill>
                      <a:srgbClr val="183D35"/>
                    </a:solidFill>
                  </a:tcPr>
                </a:tc>
                <a:tc>
                  <a:txBody>
                    <a:bodyPr/>
                    <a:lstStyle/>
                    <a:p>
                      <a:r>
                        <a:rPr sz="1950" b="1">
                          <a:solidFill>
                            <a:srgbClr val="66E0B5"/>
                          </a:solidFill>
                          <a:latin typeface="Arial"/>
                          <a:ea typeface="Arial"/>
                          <a:cs typeface="Arial"/>
                        </a:rPr>
                        <a:t>21 CVAT / OPA / Docker</a:t>
                      </a:r>
                    </a:p>
                    <a:p>
                      <a:r>
                        <a:rPr sz="1950" b="1">
                          <a:solidFill>
                            <a:srgbClr val="66E0B5"/>
                          </a:solidFill>
                          <a:latin typeface="Arial"/>
                          <a:ea typeface="Arial"/>
                          <a:cs typeface="Arial"/>
                        </a:rPr>
                        <a:t>28 Phoenix</a:t>
                      </a:r>
                    </a:p>
                  </a:txBody>
                  <a:tcPr marL="91440" marR="91440" marT="45720" marB="45720">
                    <a:solidFill>
                      <a:srgbClr val="183D35"/>
                    </a:solidFill>
                  </a:tcPr>
                </a:tc>
                <a:tc>
                  <a:txBody>
                    <a:bodyPr/>
                    <a:lstStyle/>
                    <a:p>
                      <a:r>
                        <a:rPr sz="1950" b="1">
                          <a:solidFill>
                            <a:srgbClr val="66E0B5"/>
                          </a:solidFill>
                          <a:latin typeface="Arial"/>
                          <a:ea typeface="Arial"/>
                          <a:cs typeface="Arial"/>
                        </a:rPr>
                        <a:t>CHỌN</a:t>
                      </a:r>
                    </a:p>
                    <a:p>
                      <a:r>
                        <a:rPr sz="1950" b="1">
                          <a:solidFill>
                            <a:srgbClr val="66E0B5"/>
                          </a:solidFill>
                          <a:latin typeface="Arial"/>
                          <a:ea typeface="Arial"/>
                          <a:cs typeface="Arial"/>
                        </a:rPr>
                        <a:t>Có hướng dẫn để đối chiếu</a:t>
                      </a:r>
                    </a:p>
                  </a:txBody>
                  <a:tcPr marL="91440" marR="91440" marT="45720" marB="45720">
                    <a:solidFill>
                      <a:srgbClr val="183D35"/>
                    </a:solidFill>
                  </a:tcPr>
                </a:tc>
              </a:tr>
              <a:tr h="847725">
                <a:tc>
                  <a:txBody>
                    <a:bodyPr/>
                    <a:lstStyle/>
                    <a:p>
                      <a:r>
                        <a:rPr sz="1950" b="0">
                          <a:solidFill>
                            <a:srgbClr val="F3F6F7"/>
                          </a:solidFill>
                          <a:latin typeface="Arial"/>
                          <a:ea typeface="Arial"/>
                          <a:cs typeface="Arial"/>
                        </a:rPr>
                        <a:t>Điểm danh</a:t>
                      </a:r>
                    </a:p>
                  </a:txBody>
                  <a:tcPr marL="91440" marR="91440" marT="45720" marB="45720">
                    <a:solidFill>
                      <a:srgbClr val="111820"/>
                    </a:solidFill>
                  </a:tcPr>
                </a:tc>
                <a:tc>
                  <a:txBody>
                    <a:bodyPr/>
                    <a:lstStyle/>
                    <a:p>
                      <a:r>
                        <a:rPr sz="1950" b="0">
                          <a:solidFill>
                            <a:srgbClr val="F3F6F7"/>
                          </a:solidFill>
                          <a:latin typeface="Arial"/>
                          <a:ea typeface="Arial"/>
                          <a:cs typeface="Arial"/>
                        </a:rPr>
                        <a:t>49 điểm danh / Zoom</a:t>
                      </a:r>
                    </a:p>
                  </a:txBody>
                  <a:tcPr marL="91440" marR="91440" marT="45720" marB="45720">
                    <a:solidFill>
                      <a:srgbClr val="111820"/>
                    </a:solidFill>
                  </a:tcPr>
                </a:tc>
                <a:tc>
                  <a:txBody>
                    <a:bodyPr/>
                    <a:lstStyle/>
                    <a:p>
                      <a:r>
                        <a:rPr sz="1950" b="0">
                          <a:solidFill>
                            <a:srgbClr val="F3F6F7"/>
                          </a:solidFill>
                          <a:latin typeface="Arial"/>
                          <a:ea typeface="Arial"/>
                          <a:cs typeface="Arial"/>
                        </a:rPr>
                        <a:t>Chưa có dữ liệu</a:t>
                      </a:r>
                    </a:p>
                    <a:p>
                      <a:r>
                        <a:rPr sz="1950" b="0">
                          <a:solidFill>
                            <a:srgbClr val="F3F6F7"/>
                          </a:solidFill>
                          <a:latin typeface="Arial"/>
                          <a:ea typeface="Arial"/>
                          <a:cs typeface="Arial"/>
                        </a:rPr>
                        <a:t>điểm danh cá nhân</a:t>
                      </a:r>
                    </a:p>
                  </a:txBody>
                  <a:tcPr marL="91440" marR="91440" marT="45720" marB="45720">
                    <a:solidFill>
                      <a:srgbClr val="111820"/>
                    </a:solidFill>
                  </a:tcPr>
                </a:tc>
              </a:tr>
              <a:tr h="847725">
                <a:tc>
                  <a:txBody>
                    <a:bodyPr/>
                    <a:lstStyle/>
                    <a:p>
                      <a:r>
                        <a:rPr sz="1950" b="0">
                          <a:solidFill>
                            <a:srgbClr val="F3F6F7"/>
                          </a:solidFill>
                          <a:latin typeface="Arial"/>
                          <a:ea typeface="Arial"/>
                          <a:cs typeface="Arial"/>
                        </a:rPr>
                        <a:t>Standup và lập nhóm</a:t>
                      </a:r>
                    </a:p>
                  </a:txBody>
                  <a:tcPr marL="91440" marR="91440" marT="45720" marB="45720">
                    <a:solidFill>
                      <a:srgbClr val="111820"/>
                    </a:solidFill>
                  </a:tcPr>
                </a:tc>
                <a:tc>
                  <a:txBody>
                    <a:bodyPr/>
                    <a:lstStyle/>
                    <a:p>
                      <a:r>
                        <a:rPr sz="1950" b="0">
                          <a:solidFill>
                            <a:srgbClr val="F3F6F7"/>
                          </a:solidFill>
                          <a:latin typeface="Arial"/>
                          <a:ea typeface="Arial"/>
                          <a:cs typeface="Arial"/>
                        </a:rPr>
                        <a:t>58 Standup</a:t>
                      </a:r>
                    </a:p>
                    <a:p>
                      <a:r>
                        <a:rPr sz="1950" b="0">
                          <a:solidFill>
                            <a:srgbClr val="F3F6F7"/>
                          </a:solidFill>
                          <a:latin typeface="Arial"/>
                          <a:ea typeface="Arial"/>
                          <a:cs typeface="Arial"/>
                        </a:rPr>
                        <a:t>65 team</a:t>
                      </a:r>
                    </a:p>
                  </a:txBody>
                  <a:tcPr marL="91440" marR="91440" marT="45720" marB="45720">
                    <a:solidFill>
                      <a:srgbClr val="111820"/>
                    </a:solidFill>
                  </a:tcPr>
                </a:tc>
                <a:tc>
                  <a:txBody>
                    <a:bodyPr/>
                    <a:lstStyle/>
                    <a:p>
                      <a:r>
                        <a:rPr sz="1950" b="0">
                          <a:solidFill>
                            <a:srgbClr val="F3F6F7"/>
                          </a:solidFill>
                          <a:latin typeface="Arial"/>
                          <a:ea typeface="Arial"/>
                          <a:cs typeface="Arial"/>
                        </a:rPr>
                        <a:t>Cần xác minh quy định</a:t>
                      </a:r>
                    </a:p>
                    <a:p>
                      <a:r>
                        <a:rPr sz="1950" b="0">
                          <a:solidFill>
                            <a:srgbClr val="F3F6F7"/>
                          </a:solidFill>
                          <a:latin typeface="Arial"/>
                          <a:ea typeface="Arial"/>
                          <a:cs typeface="Arial"/>
                        </a:rPr>
                        <a:t>và quyền thao tác</a:t>
                      </a:r>
                    </a:p>
                  </a:txBody>
                  <a:tcPr marL="91440" marR="91440" marT="45720" marB="45720">
                    <a:solidFill>
                      <a:srgbClr val="111820"/>
                    </a:solidFill>
                  </a:tcPr>
                </a:tc>
              </a:tr>
            </a:tbl>
          </a:graphicData>
        </a:graphic>
      </p:graphicFrame>
      <p:sp>
        <p:nvSpPr>
          <p:cNvPr id="6" name="">
            <a:extLst xmlns:a="http://schemas.openxmlformats.org/drawingml/2006/main">
              <a:ext uri="{FF2B5EF4-FFF2-40B4-BE49-F238E27FC236}">
                <a16:creationId xmlns:a16="http://schemas.microsoft.com/office/drawing/2014/main" id="{73797C70-0FC1-4B00-8AA9-C0F753FC104D}"/>
              </a:ext>
            </a:extLst>
          </p:cNvPr>
          <p:cNvSpPr>
            <a:spLocks xmlns:a="http://schemas.openxmlformats.org/drawingml/2006/main" noGrp="1"/>
          </p:cNvSpPr>
          <p:nvPr/>
        </p:nvSpPr>
        <p:spPr>
          <a:xfrm xmlns:a="http://schemas.openxmlformats.org/drawingml/2006/main">
            <a:off x="609600" y="54578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6F7"/>
                </a:solidFill>
                <a:latin typeface="Arial"/>
                <a:ea typeface="Arial"/>
                <a:cs typeface="Arial"/>
              </a:defRPr>
            </a:pPr>
            <a:r>
              <a:rPr sz="2175" b="1">
                <a:solidFill>
                  <a:srgbClr val="F3F6F7"/>
                </a:solidFill>
                <a:latin typeface="Arial"/>
                <a:ea typeface="Arial"/>
                <a:cs typeface="Arial"/>
              </a:rPr>
              <a:t>Chọn theo khả năng kiểm chứng và triển khai trong hackathon.</a:t>
            </a:r>
          </a:p>
        </p:txBody>
      </p:sp>
      <p:sp>
        <p:nvSpPr>
          <p:cNvPr id="7" name="">
            <a:extLst xmlns:a="http://schemas.openxmlformats.org/drawingml/2006/main">
              <a:ext uri="{FF2B5EF4-FFF2-40B4-BE49-F238E27FC236}">
                <a16:creationId xmlns:a16="http://schemas.microsoft.com/office/drawing/2014/main" id="{1EFD2EF3-18B6-43FE-865E-25CD101CC69A}"/>
              </a:ext>
            </a:extLst>
          </p:cNvPr>
          <p:cNvSpPr>
            <a:spLocks xmlns:a="http://schemas.openxmlformats.org/drawingml/2006/main" noGrp="1"/>
          </p:cNvSpPr>
          <p:nvPr/>
        </p:nvSpPr>
        <p:spPr>
          <a:xfrm xmlns:a="http://schemas.openxmlformats.org/drawingml/2006/main">
            <a:off x="609600" y="59626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8C5"/>
                </a:solidFill>
                <a:latin typeface="Arial"/>
                <a:ea typeface="Arial"/>
                <a:cs typeface="Arial"/>
              </a:defRPr>
            </a:pPr>
            <a:r>
              <a:rPr sz="1500" b="0">
                <a:solidFill>
                  <a:srgbClr val="AAB8C5"/>
                </a:solidFill>
                <a:latin typeface="Arial"/>
                <a:ea typeface="Arial"/>
                <a:cs typeface="Arial"/>
              </a:rPr>
              <a:t>Chưa đo thời gian tiết kiệm hoặc mức giảm tải cho TA.</a:t>
            </a:r>
          </a:p>
        </p:txBody>
      </p:sp>
    </p:spTree>
    <p:extLst>
      <p:ext uri="{BB962C8B-B14F-4D97-AF65-F5344CB8AC3E}">
        <p14:creationId xmlns:p14="http://schemas.microsoft.com/office/powerpoint/2010/main" val="1195619964"/>
      </p:ext>
    </p:extLst>
  </p:cSld>
</p:sld>
</file>

<file path=ppt/slides/slide3.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2020AE-F49B-4B93-A0C7-3ECA6C0518A1}"/>
              </a:ext>
            </a:extLst>
          </p:cNvPr>
          <p:cNvSpPr>
            <a:spLocks xmlns:a="http://schemas.openxmlformats.org/drawingml/2006/main" noGrp="1"/>
          </p:cNvSpPr>
          <p:nvPr/>
        </p:nvSpPr>
        <p:spPr>
          <a:xfrm xmlns:a="http://schemas.openxmlformats.org/drawingml/2006/main">
            <a:off x="609600" y="285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6E0B5"/>
                </a:solidFill>
                <a:latin typeface="Arial"/>
                <a:ea typeface="Arial"/>
                <a:cs typeface="Arial"/>
              </a:defRPr>
            </a:pPr>
            <a:r>
              <a:rPr sz="1200" b="1">
                <a:solidFill>
                  <a:srgbClr val="66E0B5"/>
                </a:solidFill>
                <a:latin typeface="Arial"/>
                <a:ea typeface="Arial"/>
                <a:cs typeface="Arial"/>
              </a:rPr>
              <a:t>KUTE / AI THỰC CHIẾN</a:t>
            </a:r>
          </a:p>
        </p:txBody>
      </p:sp>
      <p:sp>
        <p:nvSpPr>
          <p:cNvPr id="2" name="">
            <a:extLst xmlns:a="http://schemas.openxmlformats.org/drawingml/2006/main">
              <a:ext uri="{FF2B5EF4-FFF2-40B4-BE49-F238E27FC236}">
                <a16:creationId xmlns:a16="http://schemas.microsoft.com/office/drawing/2014/main" id="{E455E094-E923-4175-9D5F-1AACE7512B1E}"/>
              </a:ext>
            </a:extLst>
          </p:cNvPr>
          <p:cNvSpPr>
            <a:spLocks xmlns:a="http://schemas.openxmlformats.org/drawingml/2006/main" noGrp="1"/>
          </p:cNvSpPr>
          <p:nvPr/>
        </p:nvSpPr>
        <p:spPr>
          <a:xfrm xmlns:a="http://schemas.openxmlformats.org/drawingml/2006/main">
            <a:off x="10572750" y="2857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03 / 06</a:t>
            </a:r>
          </a:p>
        </p:txBody>
      </p:sp>
      <p:sp>
        <p:nvSpPr>
          <p:cNvPr id="3" name="">
            <a:extLst xmlns:a="http://schemas.openxmlformats.org/drawingml/2006/main">
              <a:ext uri="{FF2B5EF4-FFF2-40B4-BE49-F238E27FC236}">
                <a16:creationId xmlns:a16="http://schemas.microsoft.com/office/drawing/2014/main" id="{FF2F1BA8-0195-4A1A-8FB6-74A046F7CF3F}"/>
              </a:ext>
            </a:extLst>
          </p:cNvPr>
          <p:cNvSpPr>
            <a:spLocks xmlns:a="http://schemas.openxmlformats.org/drawingml/2006/main" noGrp="1"/>
          </p:cNvSpPr>
          <p:nvPr/>
        </p:nvSpPr>
        <p:spPr>
          <a:xfrm xmlns:a="http://schemas.openxmlformats.org/drawingml/2006/main">
            <a:off x="609600" y="8477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Demo: một ca có nguồn, một ca cần TA</a:t>
            </a:r>
          </a:p>
        </p:txBody>
      </p:sp>
      <p:sp>
        <p:nvSpPr>
          <p:cNvPr id="4" name="">
            <a:extLst xmlns:a="http://schemas.openxmlformats.org/drawingml/2006/main">
              <a:ext uri="{FF2B5EF4-FFF2-40B4-BE49-F238E27FC236}">
                <a16:creationId xmlns:a16="http://schemas.microsoft.com/office/drawing/2014/main" id="{9CA5E06F-B04E-4A05-8883-3BBEF9D2E42A}"/>
              </a:ext>
            </a:extLst>
          </p:cNvPr>
          <p:cNvSpPr>
            <a:spLocks xmlns:a="http://schemas.openxmlformats.org/drawingml/2006/main" noGrp="1"/>
          </p:cNvSpPr>
          <p:nvPr/>
        </p:nvSpPr>
        <p:spPr>
          <a:xfrm xmlns:a="http://schemas.openxmlformats.org/drawingml/2006/main">
            <a:off x="609600" y="6372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AB8C5"/>
                </a:solidFill>
                <a:latin typeface="Arial"/>
                <a:ea typeface="Arial"/>
                <a:cs typeface="Arial"/>
              </a:defRPr>
            </a:pPr>
            <a:r>
              <a:rPr sz="1050" b="0">
                <a:solidFill>
                  <a:srgbClr val="AAB8C5"/>
                </a:solidFill>
                <a:latin typeface="Arial"/>
                <a:ea typeface="Arial"/>
                <a:cs typeface="Arial"/>
              </a:rPr>
              <a:t>Nguồn: src/knowledge.js; src/assistant.js; src/discord.js. Hai tình huống dùng trong demo trực tiếp.</a:t>
            </a:r>
          </a:p>
        </p:txBody>
      </p:sp>
      <p:sp>
        <p:nvSpPr>
          <p:cNvPr id="5" name="">
            <a:extLst xmlns:a="http://schemas.openxmlformats.org/drawingml/2006/main">
              <a:ext uri="{FF2B5EF4-FFF2-40B4-BE49-F238E27FC236}">
                <a16:creationId xmlns:a16="http://schemas.microsoft.com/office/drawing/2014/main" id="{273AD0E8-106D-4278-9E01-8E24244AC708}"/>
              </a:ext>
            </a:extLst>
          </p:cNvPr>
          <p:cNvSpPr>
            <a:spLocks xmlns:a="http://schemas.openxmlformats.org/drawingml/2006/main" noGrp="1"/>
          </p:cNvSpPr>
          <p:nvPr/>
        </p:nvSpPr>
        <p:spPr>
          <a:xfrm xmlns:a="http://schemas.openxmlformats.org/drawingml/2006/main">
            <a:off x="609600" y="1885950"/>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4 trích đoạn đối chiếu CSV. Tự động hóa có điều kiện vì hướng dẫn sai có thể làm hỏng môi trường.</a:t>
            </a:r>
          </a:p>
        </p:txBody>
      </p:sp>
      <p:sp>
        <p:nvSpPr>
          <p:cNvPr id="6" name="">
            <a:extLst xmlns:a="http://schemas.openxmlformats.org/drawingml/2006/main">
              <a:ext uri="{FF2B5EF4-FFF2-40B4-BE49-F238E27FC236}">
                <a16:creationId xmlns:a16="http://schemas.microsoft.com/office/drawing/2014/main" id="{F0D52B7B-BD8F-4D29-ACC7-5E2B3293AF23}"/>
              </a:ext>
            </a:extLst>
          </p:cNvPr>
          <p:cNvSpPr>
            <a:spLocks xmlns:a="http://schemas.openxmlformats.org/drawingml/2006/main" noGrp="1"/>
          </p:cNvSpPr>
          <p:nvPr/>
        </p:nvSpPr>
        <p:spPr>
          <a:xfrm xmlns:a="http://schemas.openxmlformats.org/drawingml/2006/main">
            <a:off x="609600" y="298132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6E0B5"/>
                </a:solidFill>
                <a:latin typeface="Arial"/>
                <a:ea typeface="Arial"/>
                <a:cs typeface="Arial"/>
              </a:defRPr>
            </a:pPr>
            <a:r>
              <a:rPr sz="2550" b="1">
                <a:solidFill>
                  <a:srgbClr val="66E0B5"/>
                </a:solidFill>
                <a:latin typeface="Arial"/>
                <a:ea typeface="Arial"/>
                <a:cs typeface="Arial"/>
              </a:rPr>
              <a:t>FOUND</a:t>
            </a:r>
          </a:p>
        </p:txBody>
      </p:sp>
      <p:sp>
        <p:nvSpPr>
          <p:cNvPr id="7" name="">
            <a:extLst xmlns:a="http://schemas.openxmlformats.org/drawingml/2006/main">
              <a:ext uri="{FF2B5EF4-FFF2-40B4-BE49-F238E27FC236}">
                <a16:creationId xmlns:a16="http://schemas.microsoft.com/office/drawing/2014/main" id="{63C672A0-7751-47CD-9297-8009E9F89302}"/>
              </a:ext>
            </a:extLst>
          </p:cNvPr>
          <p:cNvSpPr>
            <a:spLocks xmlns:a="http://schemas.openxmlformats.org/drawingml/2006/main" noGrp="1"/>
          </p:cNvSpPr>
          <p:nvPr/>
        </p:nvSpPr>
        <p:spPr>
          <a:xfrm xmlns:a="http://schemas.openxmlformats.org/drawingml/2006/main">
            <a:off x="3286125" y="2886075"/>
            <a:ext cx="781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6F7"/>
                </a:solidFill>
                <a:latin typeface="Arial"/>
                <a:ea typeface="Arial"/>
                <a:cs typeface="Arial"/>
              </a:defRPr>
            </a:pPr>
            <a:r>
              <a:rPr sz="2175" b="1">
                <a:solidFill>
                  <a:srgbClr val="F3F6F7"/>
                </a:solidFill>
                <a:latin typeface="Arial"/>
                <a:ea typeface="Arial"/>
                <a:cs typeface="Arial"/>
              </a:rPr>
              <a:t>OPA báo 500 health bundles sau docker compose up -d</a:t>
            </a:r>
          </a:p>
        </p:txBody>
      </p:sp>
      <p:sp>
        <p:nvSpPr>
          <p:cNvPr id="8" name="">
            <a:extLst xmlns:a="http://schemas.openxmlformats.org/drawingml/2006/main">
              <a:ext uri="{FF2B5EF4-FFF2-40B4-BE49-F238E27FC236}">
                <a16:creationId xmlns:a16="http://schemas.microsoft.com/office/drawing/2014/main" id="{908A72AD-A1C3-4366-B128-37D09A8A5220}"/>
              </a:ext>
            </a:extLst>
          </p:cNvPr>
          <p:cNvSpPr>
            <a:spLocks xmlns:a="http://schemas.openxmlformats.org/drawingml/2006/main" noGrp="1"/>
          </p:cNvSpPr>
          <p:nvPr/>
        </p:nvSpPr>
        <p:spPr>
          <a:xfrm xmlns:a="http://schemas.openxmlformats.org/drawingml/2006/main">
            <a:off x="3286125" y="36099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AB8C5"/>
                </a:solidFill>
                <a:latin typeface="Arial"/>
                <a:ea typeface="Arial"/>
                <a:cs typeface="Arial"/>
              </a:defRPr>
            </a:pPr>
            <a:r>
              <a:rPr sz="1800" b="0">
                <a:solidFill>
                  <a:srgbClr val="AAB8C5"/>
                </a:solidFill>
                <a:latin typeface="Arial"/>
                <a:ea typeface="Arial"/>
                <a:cs typeface="Arial"/>
              </a:rPr>
              <a:t>Giải thích theo nguồn M12802, mở trích đoạn để kiểm tra.</a:t>
            </a:r>
          </a:p>
        </p:txBody>
      </p:sp>
      <p:sp>
        <p:nvSpPr>
          <p:cNvPr id="9" name="">
            <a:extLst xmlns:a="http://schemas.openxmlformats.org/drawingml/2006/main">
              <a:ext uri="{FF2B5EF4-FFF2-40B4-BE49-F238E27FC236}">
                <a16:creationId xmlns:a16="http://schemas.microsoft.com/office/drawing/2014/main" id="{14436DA7-948C-45AF-94BB-1E4C187865F5}"/>
              </a:ext>
            </a:extLst>
          </p:cNvPr>
          <p:cNvSpPr>
            <a:spLocks xmlns:a="http://schemas.openxmlformats.org/drawingml/2006/main" noGrp="1"/>
          </p:cNvSpPr>
          <p:nvPr/>
        </p:nvSpPr>
        <p:spPr>
          <a:xfrm xmlns:a="http://schemas.openxmlformats.org/drawingml/2006/main">
            <a:off x="609600" y="448627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C66D"/>
                </a:solidFill>
                <a:latin typeface="Arial"/>
                <a:ea typeface="Arial"/>
                <a:cs typeface="Arial"/>
              </a:defRPr>
            </a:pPr>
            <a:r>
              <a:rPr sz="2400" b="1">
                <a:solidFill>
                  <a:srgbClr val="FFC66D"/>
                </a:solidFill>
                <a:latin typeface="Arial"/>
                <a:ea typeface="Arial"/>
                <a:cs typeface="Arial"/>
              </a:rPr>
              <a:t>NOT_FOUND</a:t>
            </a:r>
          </a:p>
        </p:txBody>
      </p:sp>
      <p:sp>
        <p:nvSpPr>
          <p:cNvPr id="10" name="">
            <a:extLst xmlns:a="http://schemas.openxmlformats.org/drawingml/2006/main">
              <a:ext uri="{FF2B5EF4-FFF2-40B4-BE49-F238E27FC236}">
                <a16:creationId xmlns:a16="http://schemas.microsoft.com/office/drawing/2014/main" id="{98C3F8D2-EB0A-4158-B591-2ED4BCFA2089}"/>
              </a:ext>
            </a:extLst>
          </p:cNvPr>
          <p:cNvSpPr>
            <a:spLocks xmlns:a="http://schemas.openxmlformats.org/drawingml/2006/main" noGrp="1"/>
          </p:cNvSpPr>
          <p:nvPr/>
        </p:nvSpPr>
        <p:spPr>
          <a:xfrm xmlns:a="http://schemas.openxmlformats.org/drawingml/2006/main">
            <a:off x="3286125" y="439102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6F7"/>
                </a:solidFill>
                <a:latin typeface="Arial"/>
                <a:ea typeface="Arial"/>
                <a:cs typeface="Arial"/>
              </a:defRPr>
            </a:pPr>
            <a:r>
              <a:rPr sz="2175" b="1">
                <a:solidFill>
                  <a:srgbClr val="F3F6F7"/>
                </a:solidFill>
                <a:latin typeface="Arial"/>
                <a:ea typeface="Arial"/>
                <a:cs typeface="Arial"/>
              </a:rPr>
              <a:t>“Xin gia hạn bài CVAT health check cho em.”</a:t>
            </a:r>
          </a:p>
        </p:txBody>
      </p:sp>
      <p:sp>
        <p:nvSpPr>
          <p:cNvPr id="11" name="">
            <a:extLst xmlns:a="http://schemas.openxmlformats.org/drawingml/2006/main">
              <a:ext uri="{FF2B5EF4-FFF2-40B4-BE49-F238E27FC236}">
                <a16:creationId xmlns:a16="http://schemas.microsoft.com/office/drawing/2014/main" id="{C93D9867-5B35-4B93-9D92-4D6622CDAE05}"/>
              </a:ext>
            </a:extLst>
          </p:cNvPr>
          <p:cNvSpPr>
            <a:spLocks xmlns:a="http://schemas.openxmlformats.org/drawingml/2006/main" noGrp="1"/>
          </p:cNvSpPr>
          <p:nvPr/>
        </p:nvSpPr>
        <p:spPr>
          <a:xfrm xmlns:a="http://schemas.openxmlformats.org/drawingml/2006/main">
            <a:off x="3286125" y="501967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AB8C5"/>
                </a:solidFill>
                <a:latin typeface="Arial"/>
                <a:ea typeface="Arial"/>
                <a:cs typeface="Arial"/>
              </a:defRPr>
            </a:pPr>
            <a:r>
              <a:rPr sz="1800" b="0">
                <a:solidFill>
                  <a:srgbClr val="AAB8C5"/>
                </a:solidFill>
                <a:latin typeface="Arial"/>
                <a:ea typeface="Arial"/>
                <a:cs typeface="Arial"/>
              </a:rPr>
              <a:t>Không tự gia hạn. Người học có thể lưu ticket chuyển TA.</a:t>
            </a:r>
          </a:p>
        </p:txBody>
      </p:sp>
      <p:sp>
        <p:nvSpPr>
          <p:cNvPr id="12" name="">
            <a:extLst xmlns:a="http://schemas.openxmlformats.org/drawingml/2006/main">
              <a:ext uri="{FF2B5EF4-FFF2-40B4-BE49-F238E27FC236}">
                <a16:creationId xmlns:a16="http://schemas.microsoft.com/office/drawing/2014/main" id="{37BAFCFF-5FA9-4EF1-AA63-EDC936202999}"/>
              </a:ext>
            </a:extLst>
          </p:cNvPr>
          <p:cNvSpPr>
            <a:spLocks xmlns:a="http://schemas.openxmlformats.org/drawingml/2006/main" noGrp="1"/>
          </p:cNvSpPr>
          <p:nvPr/>
        </p:nvSpPr>
        <p:spPr>
          <a:xfrm xmlns:a="http://schemas.openxmlformats.org/drawingml/2006/main">
            <a:off x="609600" y="5848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C66D"/>
                </a:solidFill>
                <a:latin typeface="Arial"/>
                <a:ea typeface="Arial"/>
                <a:cs typeface="Arial"/>
              </a:defRPr>
            </a:pPr>
            <a:r>
              <a:rPr sz="1725" b="0">
                <a:solidFill>
                  <a:srgbClr val="FFC66D"/>
                </a:solidFill>
                <a:latin typeface="Arial"/>
                <a:ea typeface="Arial"/>
                <a:cs typeface="Arial"/>
              </a:rPr>
              <a:t>Web và AI chạy thật. Chưa kiểm chứng guild Discord; ticket demo lưu local.</a:t>
            </a:r>
          </a:p>
        </p:txBody>
      </p:sp>
    </p:spTree>
    <p:extLst>
      <p:ext uri="{BB962C8B-B14F-4D97-AF65-F5344CB8AC3E}">
        <p14:creationId xmlns:p14="http://schemas.microsoft.com/office/powerpoint/2010/main" val="80397936"/>
      </p:ext>
    </p:extLst>
  </p:cSld>
</p:sld>
</file>

<file path=ppt/slides/slide4.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AB0AE7-3D6F-4321-8EE3-94627274C566}"/>
              </a:ext>
            </a:extLst>
          </p:cNvPr>
          <p:cNvSpPr>
            <a:spLocks xmlns:a="http://schemas.openxmlformats.org/drawingml/2006/main" noGrp="1"/>
          </p:cNvSpPr>
          <p:nvPr/>
        </p:nvSpPr>
        <p:spPr>
          <a:xfrm xmlns:a="http://schemas.openxmlformats.org/drawingml/2006/main">
            <a:off x="609600" y="285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6E0B5"/>
                </a:solidFill>
                <a:latin typeface="Arial"/>
                <a:ea typeface="Arial"/>
                <a:cs typeface="Arial"/>
              </a:defRPr>
            </a:pPr>
            <a:r>
              <a:rPr sz="1200" b="1">
                <a:solidFill>
                  <a:srgbClr val="66E0B5"/>
                </a:solidFill>
                <a:latin typeface="Arial"/>
                <a:ea typeface="Arial"/>
                <a:cs typeface="Arial"/>
              </a:rPr>
              <a:t>KUTE / AI THỰC CHIẾN</a:t>
            </a:r>
          </a:p>
        </p:txBody>
      </p:sp>
      <p:sp>
        <p:nvSpPr>
          <p:cNvPr id="2" name="">
            <a:extLst xmlns:a="http://schemas.openxmlformats.org/drawingml/2006/main">
              <a:ext uri="{FF2B5EF4-FFF2-40B4-BE49-F238E27FC236}">
                <a16:creationId xmlns:a16="http://schemas.microsoft.com/office/drawing/2014/main" id="{14CAA990-C55F-4422-AEB5-3CB82981E274}"/>
              </a:ext>
            </a:extLst>
          </p:cNvPr>
          <p:cNvSpPr>
            <a:spLocks xmlns:a="http://schemas.openxmlformats.org/drawingml/2006/main" noGrp="1"/>
          </p:cNvSpPr>
          <p:nvPr/>
        </p:nvSpPr>
        <p:spPr>
          <a:xfrm xmlns:a="http://schemas.openxmlformats.org/drawingml/2006/main">
            <a:off x="10572750" y="2857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04 / 06</a:t>
            </a:r>
          </a:p>
        </p:txBody>
      </p:sp>
      <p:sp>
        <p:nvSpPr>
          <p:cNvPr id="3" name="">
            <a:extLst xmlns:a="http://schemas.openxmlformats.org/drawingml/2006/main">
              <a:ext uri="{FF2B5EF4-FFF2-40B4-BE49-F238E27FC236}">
                <a16:creationId xmlns:a16="http://schemas.microsoft.com/office/drawing/2014/main" id="{47E7DAD9-5848-469D-AF38-8CFC49FA99A1}"/>
              </a:ext>
            </a:extLst>
          </p:cNvPr>
          <p:cNvSpPr>
            <a:spLocks xmlns:a="http://schemas.openxmlformats.org/drawingml/2006/main" noGrp="1"/>
          </p:cNvSpPr>
          <p:nvPr/>
        </p:nvSpPr>
        <p:spPr>
          <a:xfrm xmlns:a="http://schemas.openxmlformats.org/drawingml/2006/main">
            <a:off x="609600" y="8477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20/20 đúng nhánh và mã nguồn kỳ vọng</a:t>
            </a:r>
          </a:p>
        </p:txBody>
      </p:sp>
      <p:sp>
        <p:nvSpPr>
          <p:cNvPr id="4" name="">
            <a:extLst xmlns:a="http://schemas.openxmlformats.org/drawingml/2006/main">
              <a:ext uri="{FF2B5EF4-FFF2-40B4-BE49-F238E27FC236}">
                <a16:creationId xmlns:a16="http://schemas.microsoft.com/office/drawing/2014/main" id="{DA306F06-C647-461D-AC47-C0222A338357}"/>
              </a:ext>
            </a:extLst>
          </p:cNvPr>
          <p:cNvSpPr>
            <a:spLocks xmlns:a="http://schemas.openxmlformats.org/drawingml/2006/main" noGrp="1"/>
          </p:cNvSpPr>
          <p:nvPr/>
        </p:nvSpPr>
        <p:spPr>
          <a:xfrm xmlns:a="http://schemas.openxmlformats.org/drawingml/2006/main">
            <a:off x="609600" y="6372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AB8C5"/>
                </a:solidFill>
                <a:latin typeface="Arial"/>
                <a:ea typeface="Arial"/>
                <a:cs typeface="Arial"/>
              </a:defRPr>
            </a:pPr>
            <a:r>
              <a:rPr sz="1050" b="0">
                <a:solidFill>
                  <a:srgbClr val="AAB8C5"/>
                </a:solidFill>
                <a:latin typeface="Arial"/>
                <a:ea typeface="Arial"/>
                <a:cs typeface="Arial"/>
              </a:rPr>
              <a:t>Nguồn: eval/results-live.json (17/09/2026); eval/REPORT.md; spec.md §7. Bộ test tự xây, chưa là holdout độc lập.</a:t>
            </a:r>
          </a:p>
        </p:txBody>
      </p:sp>
      <p:sp>
        <p:nvSpPr>
          <p:cNvPr id="5" name="">
            <a:extLst xmlns:a="http://schemas.openxmlformats.org/drawingml/2006/main">
              <a:ext uri="{FF2B5EF4-FFF2-40B4-BE49-F238E27FC236}">
                <a16:creationId xmlns:a16="http://schemas.microsoft.com/office/drawing/2014/main" id="{B2C7B78F-EE30-4B6F-8504-172237200570}"/>
              </a:ext>
            </a:extLst>
          </p:cNvPr>
          <p:cNvSpPr>
            <a:spLocks xmlns:a="http://schemas.openxmlformats.org/drawingml/2006/main" noGrp="1"/>
          </p:cNvSpPr>
          <p:nvPr/>
        </p:nvSpPr>
        <p:spPr>
          <a:xfrm xmlns:a="http://schemas.openxmlformats.org/drawingml/2006/main">
            <a:off x="609600" y="2076450"/>
            <a:ext cx="5857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66E0B5"/>
                </a:solidFill>
                <a:latin typeface="Arial"/>
                <a:ea typeface="Arial"/>
                <a:cs typeface="Arial"/>
              </a:defRPr>
            </a:pPr>
            <a:r>
              <a:rPr sz="7800" b="1">
                <a:solidFill>
                  <a:srgbClr val="66E0B5"/>
                </a:solidFill>
                <a:latin typeface="Arial"/>
                <a:ea typeface="Arial"/>
                <a:cs typeface="Arial"/>
              </a:rPr>
              <a:t>20/20</a:t>
            </a:r>
          </a:p>
        </p:txBody>
      </p:sp>
      <p:sp>
        <p:nvSpPr>
          <p:cNvPr id="6" name="">
            <a:extLst xmlns:a="http://schemas.openxmlformats.org/drawingml/2006/main">
              <a:ext uri="{FF2B5EF4-FFF2-40B4-BE49-F238E27FC236}">
                <a16:creationId xmlns:a16="http://schemas.microsoft.com/office/drawing/2014/main" id="{F494C288-3965-460C-89A5-9C6DC12F217B}"/>
              </a:ext>
            </a:extLst>
          </p:cNvPr>
          <p:cNvSpPr>
            <a:spLocks xmlns:a="http://schemas.openxmlformats.org/drawingml/2006/main" noGrp="1"/>
          </p:cNvSpPr>
          <p:nvPr/>
        </p:nvSpPr>
        <p:spPr>
          <a:xfrm xmlns:a="http://schemas.openxmlformats.org/drawingml/2006/main">
            <a:off x="609600" y="363855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7"/>
                </a:solidFill>
                <a:latin typeface="Arial"/>
                <a:ea typeface="Arial"/>
                <a:cs typeface="Arial"/>
              </a:defRPr>
            </a:pPr>
            <a:r>
              <a:rPr sz="1875" b="0">
                <a:solidFill>
                  <a:srgbClr val="F3F6F7"/>
                </a:solidFill>
                <a:latin typeface="Arial"/>
                <a:ea typeface="Arial"/>
                <a:cs typeface="Arial"/>
              </a:rPr>
              <a:t>8 FOUND    4 CLARIFY    8 NOT_FOUND</a:t>
            </a:r>
          </a:p>
        </p:txBody>
      </p:sp>
      <p:sp>
        <p:nvSpPr>
          <p:cNvPr id="7" name="">
            <a:extLst xmlns:a="http://schemas.openxmlformats.org/drawingml/2006/main">
              <a:ext uri="{FF2B5EF4-FFF2-40B4-BE49-F238E27FC236}">
                <a16:creationId xmlns:a16="http://schemas.microsoft.com/office/drawing/2014/main" id="{0981041D-F8D3-4371-A7C0-4938D0D02C9D}"/>
              </a:ext>
            </a:extLst>
          </p:cNvPr>
          <p:cNvSpPr>
            <a:spLocks xmlns:a="http://schemas.openxmlformats.org/drawingml/2006/main" noGrp="1"/>
          </p:cNvSpPr>
          <p:nvPr/>
        </p:nvSpPr>
        <p:spPr>
          <a:xfrm xmlns:a="http://schemas.openxmlformats.org/drawingml/2006/main">
            <a:off x="8191500" y="2238375"/>
            <a:ext cx="3190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3F6F7"/>
                </a:solidFill>
                <a:latin typeface="Arial"/>
                <a:ea typeface="Arial"/>
                <a:cs typeface="Arial"/>
              </a:defRPr>
            </a:pPr>
            <a:r>
              <a:rPr sz="5100" b="1">
                <a:solidFill>
                  <a:srgbClr val="F3F6F7"/>
                </a:solidFill>
                <a:latin typeface="Arial"/>
                <a:ea typeface="Arial"/>
                <a:cs typeface="Arial"/>
              </a:rPr>
              <a:t>8/8</a:t>
            </a:r>
          </a:p>
        </p:txBody>
      </p:sp>
      <p:sp>
        <p:nvSpPr>
          <p:cNvPr id="8" name="">
            <a:extLst xmlns:a="http://schemas.openxmlformats.org/drawingml/2006/main">
              <a:ext uri="{FF2B5EF4-FFF2-40B4-BE49-F238E27FC236}">
                <a16:creationId xmlns:a16="http://schemas.microsoft.com/office/drawing/2014/main" id="{0CFC2233-C844-4B64-9FB3-6141C1B3675D}"/>
              </a:ext>
            </a:extLst>
          </p:cNvPr>
          <p:cNvSpPr>
            <a:spLocks xmlns:a="http://schemas.openxmlformats.org/drawingml/2006/main" noGrp="1"/>
          </p:cNvSpPr>
          <p:nvPr/>
        </p:nvSpPr>
        <p:spPr>
          <a:xfrm xmlns:a="http://schemas.openxmlformats.org/drawingml/2006/main">
            <a:off x="8191500" y="32480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8C5"/>
                </a:solidFill>
                <a:latin typeface="Arial"/>
                <a:ea typeface="Arial"/>
                <a:cs typeface="Arial"/>
              </a:defRPr>
            </a:pPr>
            <a:r>
              <a:rPr sz="1875" b="0">
                <a:solidFill>
                  <a:srgbClr val="AAB8C5"/>
                </a:solidFill>
                <a:latin typeface="Arial"/>
                <a:ea typeface="Arial"/>
                <a:cs typeface="Arial"/>
              </a:rPr>
              <a:t>ca cần AI có phản hồi thật</a:t>
            </a:r>
          </a:p>
        </p:txBody>
      </p:sp>
      <p:sp>
        <p:nvSpPr>
          <p:cNvPr id="9" name="">
            <a:extLst xmlns:a="http://schemas.openxmlformats.org/drawingml/2006/main">
              <a:ext uri="{FF2B5EF4-FFF2-40B4-BE49-F238E27FC236}">
                <a16:creationId xmlns:a16="http://schemas.microsoft.com/office/drawing/2014/main" id="{5A1465BD-A68F-4425-A30E-7EBA8637E446}"/>
              </a:ext>
            </a:extLst>
          </p:cNvPr>
          <p:cNvSpPr>
            <a:spLocks xmlns:a="http://schemas.openxmlformats.org/drawingml/2006/main" noGrp="1"/>
          </p:cNvSpPr>
          <p:nvPr/>
        </p:nvSpPr>
        <p:spPr>
          <a:xfrm xmlns:a="http://schemas.openxmlformats.org/drawingml/2006/main">
            <a:off x="609600" y="4562475"/>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6F7"/>
                </a:solidFill>
                <a:latin typeface="Arial"/>
                <a:ea typeface="Arial"/>
                <a:cs typeface="Arial"/>
              </a:defRPr>
            </a:pPr>
            <a:r>
              <a:rPr sz="2100" b="0">
                <a:solidFill>
                  <a:srgbClr val="F3F6F7"/>
                </a:solidFill>
                <a:latin typeface="Arial"/>
                <a:ea typeface="Arial"/>
                <a:cs typeface="Arial"/>
              </a:rPr>
              <a:t>Bar trong spec: ≥85% đúng nhánh và nguồn.</a:t>
            </a:r>
          </a:p>
          <a:p xmlns:a="http://schemas.openxmlformats.org/drawingml/2006/main">
            <a:pPr>
              <a:defRPr sz="2100" b="0">
                <a:solidFill>
                  <a:srgbClr val="F3F6F7"/>
                </a:solidFill>
                <a:latin typeface="Arial"/>
                <a:ea typeface="Arial"/>
                <a:cs typeface="Arial"/>
              </a:defRPr>
            </a:pPr>
            <a:r>
              <a:rPr sz="2100" b="0">
                <a:solidFill>
                  <a:srgbClr val="F3F6F7"/>
                </a:solidFill>
                <a:latin typeface="Arial"/>
                <a:ea typeface="Arial"/>
                <a:cs typeface="Arial"/>
              </a:rPr>
              <a:t>Điều kiện “không bịa khi thiếu nguồn” chưa đủ bằng chứng nghiệm thu.</a:t>
            </a:r>
          </a:p>
        </p:txBody>
      </p:sp>
      <p:sp>
        <p:nvSpPr>
          <p:cNvPr id="10" name="">
            <a:extLst xmlns:a="http://schemas.openxmlformats.org/drawingml/2006/main">
              <a:ext uri="{FF2B5EF4-FFF2-40B4-BE49-F238E27FC236}">
                <a16:creationId xmlns:a16="http://schemas.microsoft.com/office/drawing/2014/main" id="{1816BCBF-D7A5-46F7-8374-605D7B0AFC03}"/>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C66D"/>
                </a:solidFill>
                <a:latin typeface="Arial"/>
                <a:ea typeface="Arial"/>
                <a:cs typeface="Arial"/>
              </a:defRPr>
            </a:pPr>
            <a:r>
              <a:rPr sz="1725" b="0">
                <a:solidFill>
                  <a:srgbClr val="FFC66D"/>
                </a:solidFill>
                <a:latin typeface="Arial"/>
                <a:ea typeface="Arial"/>
                <a:cs typeface="Arial"/>
              </a:rPr>
              <a:t>Rà nội dung: 19/20 theo trợ lý xây dựng, chưa có người chấm chuyên môn.</a:t>
            </a:r>
          </a:p>
        </p:txBody>
      </p:sp>
    </p:spTree>
    <p:extLst>
      <p:ext uri="{BB962C8B-B14F-4D97-AF65-F5344CB8AC3E}">
        <p14:creationId xmlns:p14="http://schemas.microsoft.com/office/powerpoint/2010/main" val="2114221690"/>
      </p:ext>
    </p:extLst>
  </p:cSld>
</p:sld>
</file>

<file path=ppt/slides/slide5.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4CC979-2ED8-4F7A-8059-7226A2379193}"/>
              </a:ext>
            </a:extLst>
          </p:cNvPr>
          <p:cNvSpPr>
            <a:spLocks xmlns:a="http://schemas.openxmlformats.org/drawingml/2006/main" noGrp="1"/>
          </p:cNvSpPr>
          <p:nvPr/>
        </p:nvSpPr>
        <p:spPr>
          <a:xfrm xmlns:a="http://schemas.openxmlformats.org/drawingml/2006/main">
            <a:off x="609600" y="285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6E0B5"/>
                </a:solidFill>
                <a:latin typeface="Arial"/>
                <a:ea typeface="Arial"/>
                <a:cs typeface="Arial"/>
              </a:defRPr>
            </a:pPr>
            <a:r>
              <a:rPr sz="1200" b="1">
                <a:solidFill>
                  <a:srgbClr val="66E0B5"/>
                </a:solidFill>
                <a:latin typeface="Arial"/>
                <a:ea typeface="Arial"/>
                <a:cs typeface="Arial"/>
              </a:rPr>
              <a:t>KUTE / AI THỰC CHIẾN</a:t>
            </a:r>
          </a:p>
        </p:txBody>
      </p:sp>
      <p:sp>
        <p:nvSpPr>
          <p:cNvPr id="2" name="">
            <a:extLst xmlns:a="http://schemas.openxmlformats.org/drawingml/2006/main">
              <a:ext uri="{FF2B5EF4-FFF2-40B4-BE49-F238E27FC236}">
                <a16:creationId xmlns:a16="http://schemas.microsoft.com/office/drawing/2014/main" id="{33089E27-7B64-4D90-9FE9-1C61B77C1C24}"/>
              </a:ext>
            </a:extLst>
          </p:cNvPr>
          <p:cNvSpPr>
            <a:spLocks xmlns:a="http://schemas.openxmlformats.org/drawingml/2006/main" noGrp="1"/>
          </p:cNvSpPr>
          <p:nvPr/>
        </p:nvSpPr>
        <p:spPr>
          <a:xfrm xmlns:a="http://schemas.openxmlformats.org/drawingml/2006/main">
            <a:off x="10572750" y="2857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05 / 06</a:t>
            </a:r>
          </a:p>
        </p:txBody>
      </p:sp>
      <p:sp>
        <p:nvSpPr>
          <p:cNvPr id="3" name="">
            <a:extLst xmlns:a="http://schemas.openxmlformats.org/drawingml/2006/main">
              <a:ext uri="{FF2B5EF4-FFF2-40B4-BE49-F238E27FC236}">
                <a16:creationId xmlns:a16="http://schemas.microsoft.com/office/drawing/2014/main" id="{82C219F5-E968-40B5-9AE5-58D49A837D66}"/>
              </a:ext>
            </a:extLst>
          </p:cNvPr>
          <p:cNvSpPr>
            <a:spLocks xmlns:a="http://schemas.openxmlformats.org/drawingml/2006/main" noGrp="1"/>
          </p:cNvSpPr>
          <p:nvPr/>
        </p:nvSpPr>
        <p:spPr>
          <a:xfrm xmlns:a="http://schemas.openxmlformats.org/drawingml/2006/main">
            <a:off x="609600" y="8477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Một lỗi nội dung vẫn qua kiểm tra mã nguồn</a:t>
            </a:r>
          </a:p>
        </p:txBody>
      </p:sp>
      <p:sp>
        <p:nvSpPr>
          <p:cNvPr id="4" name="">
            <a:extLst xmlns:a="http://schemas.openxmlformats.org/drawingml/2006/main">
              <a:ext uri="{FF2B5EF4-FFF2-40B4-BE49-F238E27FC236}">
                <a16:creationId xmlns:a16="http://schemas.microsoft.com/office/drawing/2014/main" id="{7B310D9B-E6A5-4D15-A3D9-D6324F427FA2}"/>
              </a:ext>
            </a:extLst>
          </p:cNvPr>
          <p:cNvSpPr>
            <a:spLocks xmlns:a="http://schemas.openxmlformats.org/drawingml/2006/main" noGrp="1"/>
          </p:cNvSpPr>
          <p:nvPr/>
        </p:nvSpPr>
        <p:spPr>
          <a:xfrm xmlns:a="http://schemas.openxmlformats.org/drawingml/2006/main">
            <a:off x="609600" y="6372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AB8C5"/>
                </a:solidFill>
                <a:latin typeface="Arial"/>
                <a:ea typeface="Arial"/>
                <a:cs typeface="Arial"/>
              </a:defRPr>
            </a:pPr>
            <a:r>
              <a:rPr sz="1050" b="0">
                <a:solidFill>
                  <a:srgbClr val="AAB8C5"/>
                </a:solidFill>
                <a:latin typeface="Arial"/>
                <a:ea typeface="Arial"/>
                <a:cs typeface="Arial"/>
              </a:rPr>
              <a:t>Nguồn: eval/results-live.json, case 6; eval/REPORT.md; docs/SPEC-REVIEW.md.</a:t>
            </a:r>
          </a:p>
        </p:txBody>
      </p:sp>
      <p:sp>
        <p:nvSpPr>
          <p:cNvPr id="5" name="">
            <a:extLst xmlns:a="http://schemas.openxmlformats.org/drawingml/2006/main">
              <a:ext uri="{FF2B5EF4-FFF2-40B4-BE49-F238E27FC236}">
                <a16:creationId xmlns:a16="http://schemas.microsoft.com/office/drawing/2014/main" id="{459F4A0D-77A4-46FD-97DE-42BB5B85292B}"/>
              </a:ext>
            </a:extLst>
          </p:cNvPr>
          <p:cNvSpPr>
            <a:spLocks xmlns:a="http://schemas.openxmlformats.org/drawingml/2006/main" noGrp="1"/>
          </p:cNvSpPr>
          <p:nvPr/>
        </p:nvSpPr>
        <p:spPr>
          <a:xfrm xmlns:a="http://schemas.openxmlformats.org/drawingml/2006/main">
            <a:off x="609600" y="20097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C66D"/>
                </a:solidFill>
                <a:latin typeface="Arial"/>
                <a:ea typeface="Arial"/>
                <a:cs typeface="Arial"/>
              </a:defRPr>
            </a:pPr>
            <a:r>
              <a:rPr sz="1650" b="1">
                <a:solidFill>
                  <a:srgbClr val="FFC66D"/>
                </a:solidFill>
                <a:latin typeface="Arial"/>
                <a:ea typeface="Arial"/>
                <a:cs typeface="Arial"/>
              </a:rPr>
              <a:t>CASE 06</a:t>
            </a:r>
          </a:p>
        </p:txBody>
      </p:sp>
      <p:sp>
        <p:nvSpPr>
          <p:cNvPr id="6" name="">
            <a:extLst xmlns:a="http://schemas.openxmlformats.org/drawingml/2006/main">
              <a:ext uri="{FF2B5EF4-FFF2-40B4-BE49-F238E27FC236}">
                <a16:creationId xmlns:a16="http://schemas.microsoft.com/office/drawing/2014/main" id="{77EF778E-5822-4252-B2C4-7A54CA69EC1A}"/>
              </a:ext>
            </a:extLst>
          </p:cNvPr>
          <p:cNvSpPr>
            <a:spLocks xmlns:a="http://schemas.openxmlformats.org/drawingml/2006/main" noGrp="1"/>
          </p:cNvSpPr>
          <p:nvPr/>
        </p:nvSpPr>
        <p:spPr>
          <a:xfrm xmlns:a="http://schemas.openxmlformats.org/drawingml/2006/main">
            <a:off x="609600" y="2552700"/>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3F6F7"/>
                </a:solidFill>
                <a:latin typeface="Arial"/>
                <a:ea typeface="Arial"/>
                <a:cs typeface="Arial"/>
              </a:defRPr>
            </a:pPr>
            <a:r>
              <a:rPr sz="2325" b="1">
                <a:solidFill>
                  <a:srgbClr val="F3F6F7"/>
                </a:solidFill>
                <a:latin typeface="Arial"/>
                <a:ea typeface="Arial"/>
                <a:cs typeface="Arial"/>
              </a:rPr>
              <a:t>Câu hỏi về Docker image tag</a:t>
            </a:r>
          </a:p>
        </p:txBody>
      </p:sp>
      <p:sp>
        <p:nvSpPr>
          <p:cNvPr id="7" name="">
            <a:extLst xmlns:a="http://schemas.openxmlformats.org/drawingml/2006/main">
              <a:ext uri="{FF2B5EF4-FFF2-40B4-BE49-F238E27FC236}">
                <a16:creationId xmlns:a16="http://schemas.microsoft.com/office/drawing/2014/main" id="{152D0B4F-AFBB-4100-BBC1-A38D9ED50901}"/>
              </a:ext>
            </a:extLst>
          </p:cNvPr>
          <p:cNvSpPr>
            <a:spLocks xmlns:a="http://schemas.openxmlformats.org/drawingml/2006/main" noGrp="1"/>
          </p:cNvSpPr>
          <p:nvPr/>
        </p:nvSpPr>
        <p:spPr>
          <a:xfrm xmlns:a="http://schemas.openxmlformats.org/drawingml/2006/main">
            <a:off x="609600" y="3286125"/>
            <a:ext cx="6619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AB8C5"/>
                </a:solidFill>
                <a:latin typeface="Arial"/>
                <a:ea typeface="Arial"/>
                <a:cs typeface="Arial"/>
              </a:defRPr>
            </a:pPr>
            <a:r>
              <a:rPr sz="2475" b="0">
                <a:solidFill>
                  <a:srgbClr val="AAB8C5"/>
                </a:solidFill>
                <a:latin typeface="Arial"/>
                <a:ea typeface="Arial"/>
                <a:cs typeface="Arial"/>
              </a:rPr>
              <a:t>“CVAT tag image cũ cần đối chiếu</a:t>
            </a:r>
          </a:p>
          <a:p xmlns:a="http://schemas.openxmlformats.org/drawingml/2006/main">
            <a:pPr>
              <a:defRPr sz="2475" b="0">
                <a:solidFill>
                  <a:srgbClr val="AAB8C5"/>
                </a:solidFill>
                <a:latin typeface="Arial"/>
                <a:ea typeface="Arial"/>
                <a:cs typeface="Arial"/>
              </a:defRPr>
            </a:pPr>
            <a:r>
              <a:rPr sz="2475" b="0">
                <a:solidFill>
                  <a:srgbClr val="AAB8C5"/>
                </a:solidFill>
                <a:latin typeface="Arial"/>
                <a:ea typeface="Arial"/>
                <a:cs typeface="Arial"/>
              </a:rPr>
              <a:t>phiên bản nào?”</a:t>
            </a:r>
          </a:p>
        </p:txBody>
      </p:sp>
      <p:sp>
        <p:nvSpPr>
          <p:cNvPr id="8" name="">
            <a:extLst xmlns:a="http://schemas.openxmlformats.org/drawingml/2006/main">
              <a:ext uri="{FF2B5EF4-FFF2-40B4-BE49-F238E27FC236}">
                <a16:creationId xmlns:a16="http://schemas.microsoft.com/office/drawing/2014/main" id="{4BC2A386-1E68-4C24-B7D1-BAF7EFF7F5BA}"/>
              </a:ext>
            </a:extLst>
          </p:cNvPr>
          <p:cNvSpPr>
            <a:spLocks xmlns:a="http://schemas.openxmlformats.org/drawingml/2006/main" noGrp="1"/>
          </p:cNvSpPr>
          <p:nvPr/>
        </p:nvSpPr>
        <p:spPr>
          <a:xfrm xmlns:a="http://schemas.openxmlformats.org/drawingml/2006/main">
            <a:off x="7896225" y="24384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8C5"/>
                </a:solidFill>
                <a:latin typeface="Arial"/>
                <a:ea typeface="Arial"/>
                <a:cs typeface="Arial"/>
              </a:defRPr>
            </a:pPr>
            <a:r>
              <a:rPr sz="1875" b="0">
                <a:solidFill>
                  <a:srgbClr val="AAB8C5"/>
                </a:solidFill>
                <a:latin typeface="Arial"/>
                <a:ea typeface="Arial"/>
                <a:cs typeface="Arial"/>
              </a:rPr>
              <a:t>AI diễn đạt thành</a:t>
            </a:r>
          </a:p>
        </p:txBody>
      </p:sp>
      <p:sp>
        <p:nvSpPr>
          <p:cNvPr id="9" name="">
            <a:extLst xmlns:a="http://schemas.openxmlformats.org/drawingml/2006/main">
              <a:ext uri="{FF2B5EF4-FFF2-40B4-BE49-F238E27FC236}">
                <a16:creationId xmlns:a16="http://schemas.microsoft.com/office/drawing/2014/main" id="{BE2719CC-10D8-4C95-AC1B-9CECA5FA457F}"/>
              </a:ext>
            </a:extLst>
          </p:cNvPr>
          <p:cNvSpPr>
            <a:spLocks xmlns:a="http://schemas.openxmlformats.org/drawingml/2006/main" noGrp="1"/>
          </p:cNvSpPr>
          <p:nvPr/>
        </p:nvSpPr>
        <p:spPr>
          <a:xfrm xmlns:a="http://schemas.openxmlformats.org/drawingml/2006/main">
            <a:off x="7896225" y="3057525"/>
            <a:ext cx="3524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9389"/>
                </a:solidFill>
                <a:latin typeface="Arial"/>
                <a:ea typeface="Arial"/>
                <a:cs typeface="Arial"/>
              </a:defRPr>
            </a:pPr>
            <a:r>
              <a:rPr sz="3150" b="1">
                <a:solidFill>
                  <a:srgbClr val="FF9389"/>
                </a:solidFill>
                <a:latin typeface="Arial"/>
                <a:ea typeface="Arial"/>
                <a:cs typeface="Arial"/>
              </a:rPr>
              <a:t>“tag hình ảnh”</a:t>
            </a:r>
          </a:p>
        </p:txBody>
      </p:sp>
      <p:sp>
        <p:nvSpPr>
          <p:cNvPr id="10" name="">
            <a:extLst xmlns:a="http://schemas.openxmlformats.org/drawingml/2006/main">
              <a:ext uri="{FF2B5EF4-FFF2-40B4-BE49-F238E27FC236}">
                <a16:creationId xmlns:a16="http://schemas.microsoft.com/office/drawing/2014/main" id="{EB21BE07-DA4B-4AAD-95B7-9E3760B9869D}"/>
              </a:ext>
            </a:extLst>
          </p:cNvPr>
          <p:cNvSpPr>
            <a:spLocks xmlns:a="http://schemas.openxmlformats.org/drawingml/2006/main" noGrp="1"/>
          </p:cNvSpPr>
          <p:nvPr/>
        </p:nvSpPr>
        <p:spPr>
          <a:xfrm xmlns:a="http://schemas.openxmlformats.org/drawingml/2006/main">
            <a:off x="609600" y="47339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Phiên bản đúng, nghĩa kỹ thuật lệch.</a:t>
            </a:r>
          </a:p>
        </p:txBody>
      </p:sp>
      <p:sp>
        <p:nvSpPr>
          <p:cNvPr id="11" name="">
            <a:extLst xmlns:a="http://schemas.openxmlformats.org/drawingml/2006/main">
              <a:ext uri="{FF2B5EF4-FFF2-40B4-BE49-F238E27FC236}">
                <a16:creationId xmlns:a16="http://schemas.microsoft.com/office/drawing/2014/main" id="{3856E683-08D2-40C9-A347-03FA35342878}"/>
              </a:ext>
            </a:extLst>
          </p:cNvPr>
          <p:cNvSpPr>
            <a:spLocks xmlns:a="http://schemas.openxmlformats.org/drawingml/2006/main" noGrp="1"/>
          </p:cNvSpPr>
          <p:nvPr/>
        </p:nvSpPr>
        <p:spPr>
          <a:xfrm xmlns:a="http://schemas.openxmlformats.org/drawingml/2006/main">
            <a:off x="609600" y="55340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AB8C5"/>
                </a:solidFill>
                <a:latin typeface="Arial"/>
                <a:ea typeface="Arial"/>
                <a:cs typeface="Arial"/>
              </a:defRPr>
            </a:pPr>
            <a:r>
              <a:rPr sz="1800" b="0">
                <a:solidFill>
                  <a:srgbClr val="AAB8C5"/>
                </a:solidFill>
                <a:latin typeface="Arial"/>
                <a:ea typeface="Arial"/>
                <a:cs typeface="Arial"/>
              </a:rPr>
              <a:t>Kiểm tra ID chưa chứng minh nội dung. Chưa có kết quả chạy lại sau sửa.</a:t>
            </a:r>
          </a:p>
          <a:p xmlns:a="http://schemas.openxmlformats.org/drawingml/2006/main">
            <a:pPr>
              <a:defRPr sz="1800" b="0">
                <a:solidFill>
                  <a:srgbClr val="AAB8C5"/>
                </a:solidFill>
                <a:latin typeface="Arial"/>
                <a:ea typeface="Arial"/>
                <a:cs typeface="Arial"/>
              </a:defRPr>
            </a:pPr>
            <a:r>
              <a:rPr sz="1800" b="0">
                <a:solidFill>
                  <a:srgbClr val="AAB8C5"/>
                </a:solidFill>
                <a:latin typeface="Arial"/>
                <a:ea typeface="Arial"/>
                <a:cs typeface="Arial"/>
              </a:rPr>
              <a:t>Chưa có log validation; slide này phân tích golden set theo guide §5.1.</a:t>
            </a:r>
          </a:p>
        </p:txBody>
      </p:sp>
    </p:spTree>
    <p:extLst>
      <p:ext uri="{BB962C8B-B14F-4D97-AF65-F5344CB8AC3E}">
        <p14:creationId xmlns:p14="http://schemas.microsoft.com/office/powerpoint/2010/main" val="1384660815"/>
      </p:ext>
    </p:extLst>
  </p:cSld>
</p:sld>
</file>

<file path=ppt/slides/slide6.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9313277-C12F-443B-B240-08D7D65AA7B9}"/>
              </a:ext>
            </a:extLst>
          </p:cNvPr>
          <p:cNvSpPr>
            <a:spLocks xmlns:a="http://schemas.openxmlformats.org/drawingml/2006/main" noGrp="1"/>
          </p:cNvSpPr>
          <p:nvPr/>
        </p:nvSpPr>
        <p:spPr>
          <a:xfrm xmlns:a="http://schemas.openxmlformats.org/drawingml/2006/main">
            <a:off x="609600" y="285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6E0B5"/>
                </a:solidFill>
                <a:latin typeface="Arial"/>
                <a:ea typeface="Arial"/>
                <a:cs typeface="Arial"/>
              </a:defRPr>
            </a:pPr>
            <a:r>
              <a:rPr sz="1200" b="1">
                <a:solidFill>
                  <a:srgbClr val="66E0B5"/>
                </a:solidFill>
                <a:latin typeface="Arial"/>
                <a:ea typeface="Arial"/>
                <a:cs typeface="Arial"/>
              </a:rPr>
              <a:t>KUTE / AI THỰC CHIẾN</a:t>
            </a:r>
          </a:p>
        </p:txBody>
      </p:sp>
      <p:sp>
        <p:nvSpPr>
          <p:cNvPr id="2" name="">
            <a:extLst xmlns:a="http://schemas.openxmlformats.org/drawingml/2006/main">
              <a:ext uri="{FF2B5EF4-FFF2-40B4-BE49-F238E27FC236}">
                <a16:creationId xmlns:a16="http://schemas.microsoft.com/office/drawing/2014/main" id="{190E2B7A-7E57-4863-BB71-D8CD93BBA157}"/>
              </a:ext>
            </a:extLst>
          </p:cNvPr>
          <p:cNvSpPr>
            <a:spLocks xmlns:a="http://schemas.openxmlformats.org/drawingml/2006/main" noGrp="1"/>
          </p:cNvSpPr>
          <p:nvPr/>
        </p:nvSpPr>
        <p:spPr>
          <a:xfrm xmlns:a="http://schemas.openxmlformats.org/drawingml/2006/main">
            <a:off x="10572750" y="2857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06 / 06</a:t>
            </a:r>
          </a:p>
        </p:txBody>
      </p:sp>
      <p:sp>
        <p:nvSpPr>
          <p:cNvPr id="3" name="">
            <a:extLst xmlns:a="http://schemas.openxmlformats.org/drawingml/2006/main">
              <a:ext uri="{FF2B5EF4-FFF2-40B4-BE49-F238E27FC236}">
                <a16:creationId xmlns:a16="http://schemas.microsoft.com/office/drawing/2014/main" id="{35C16A65-A063-4394-8AB9-36575916EECD}"/>
              </a:ext>
            </a:extLst>
          </p:cNvPr>
          <p:cNvSpPr>
            <a:spLocks xmlns:a="http://schemas.openxmlformats.org/drawingml/2006/main" noGrp="1"/>
          </p:cNvSpPr>
          <p:nvPr/>
        </p:nvSpPr>
        <p:spPr>
          <a:xfrm xmlns:a="http://schemas.openxmlformats.org/drawingml/2006/main">
            <a:off x="609600" y="8477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Một tuần để kiểm chứng trước khi mở rộng</a:t>
            </a:r>
          </a:p>
        </p:txBody>
      </p:sp>
      <p:sp>
        <p:nvSpPr>
          <p:cNvPr id="4" name="">
            <a:extLst xmlns:a="http://schemas.openxmlformats.org/drawingml/2006/main">
              <a:ext uri="{FF2B5EF4-FFF2-40B4-BE49-F238E27FC236}">
                <a16:creationId xmlns:a16="http://schemas.microsoft.com/office/drawing/2014/main" id="{EB0FE2A9-9A8F-4976-B744-A7BEBFDA9A9E}"/>
              </a:ext>
            </a:extLst>
          </p:cNvPr>
          <p:cNvSpPr>
            <a:spLocks xmlns:a="http://schemas.openxmlformats.org/drawingml/2006/main" noGrp="1"/>
          </p:cNvSpPr>
          <p:nvPr/>
        </p:nvSpPr>
        <p:spPr>
          <a:xfrm xmlns:a="http://schemas.openxmlformats.org/drawingml/2006/main">
            <a:off x="609600" y="6372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AB8C5"/>
                </a:solidFill>
                <a:latin typeface="Arial"/>
                <a:ea typeface="Arial"/>
                <a:cs typeface="Arial"/>
              </a:defRPr>
            </a:pPr>
            <a:r>
              <a:rPr sz="1050" b="0">
                <a:solidFill>
                  <a:srgbClr val="AAB8C5"/>
                </a:solidFill>
                <a:latin typeface="Arial"/>
                <a:ea typeface="Arial"/>
                <a:cs typeface="Arial"/>
              </a:rPr>
              <a:t>Căn cứ ưu tiên: lỗi case 6, kho 4 nguồn và thiếu log validation. eval/REPORT.md; src/knowledge.js.</a:t>
            </a:r>
          </a:p>
        </p:txBody>
      </p:sp>
      <p:sp>
        <p:nvSpPr>
          <p:cNvPr id="5" name="">
            <a:extLst xmlns:a="http://schemas.openxmlformats.org/drawingml/2006/main">
              <a:ext uri="{FF2B5EF4-FFF2-40B4-BE49-F238E27FC236}">
                <a16:creationId xmlns:a16="http://schemas.microsoft.com/office/drawing/2014/main" id="{1AC96BF0-46E9-4424-BDBB-87D293A5FC86}"/>
              </a:ext>
            </a:extLst>
          </p:cNvPr>
          <p:cNvSpPr>
            <a:spLocks xmlns:a="http://schemas.openxmlformats.org/drawingml/2006/main" noGrp="1"/>
          </p:cNvSpPr>
          <p:nvPr/>
        </p:nvSpPr>
        <p:spPr>
          <a:xfrm xmlns:a="http://schemas.openxmlformats.org/drawingml/2006/main">
            <a:off x="609600" y="2095500"/>
            <a:ext cx="904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66E0B5"/>
                </a:solidFill>
                <a:latin typeface="Arial"/>
                <a:ea typeface="Arial"/>
                <a:cs typeface="Arial"/>
              </a:defRPr>
            </a:pPr>
            <a:r>
              <a:rPr sz="3150" b="1">
                <a:solidFill>
                  <a:srgbClr val="66E0B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DBA8557-34EF-4DB2-BDBD-B3E53DE2B531}"/>
              </a:ext>
            </a:extLst>
          </p:cNvPr>
          <p:cNvSpPr>
            <a:spLocks xmlns:a="http://schemas.openxmlformats.org/drawingml/2006/main" noGrp="1"/>
          </p:cNvSpPr>
          <p:nvPr/>
        </p:nvSpPr>
        <p:spPr>
          <a:xfrm xmlns:a="http://schemas.openxmlformats.org/drawingml/2006/main">
            <a:off x="1838325" y="2085975"/>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Kiểm tra nội dung và thuật ngữ</a:t>
            </a:r>
          </a:p>
        </p:txBody>
      </p:sp>
      <p:sp>
        <p:nvSpPr>
          <p:cNvPr id="7" name="">
            <a:extLst xmlns:a="http://schemas.openxmlformats.org/drawingml/2006/main">
              <a:ext uri="{FF2B5EF4-FFF2-40B4-BE49-F238E27FC236}">
                <a16:creationId xmlns:a16="http://schemas.microsoft.com/office/drawing/2014/main" id="{608CC683-F47F-4FA1-9D36-667069A4CA93}"/>
              </a:ext>
            </a:extLst>
          </p:cNvPr>
          <p:cNvSpPr>
            <a:spLocks xmlns:a="http://schemas.openxmlformats.org/drawingml/2006/main" noGrp="1"/>
          </p:cNvSpPr>
          <p:nvPr/>
        </p:nvSpPr>
        <p:spPr>
          <a:xfrm xmlns:a="http://schemas.openxmlformats.org/drawingml/2006/main">
            <a:off x="1838325" y="263842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Sửa lỗi case 6, rồi chạy lại đủ 20 câu.</a:t>
            </a:r>
          </a:p>
        </p:txBody>
      </p:sp>
      <p:sp>
        <p:nvSpPr>
          <p:cNvPr id="8" name="">
            <a:extLst xmlns:a="http://schemas.openxmlformats.org/drawingml/2006/main">
              <a:ext uri="{FF2B5EF4-FFF2-40B4-BE49-F238E27FC236}">
                <a16:creationId xmlns:a16="http://schemas.microsoft.com/office/drawing/2014/main" id="{642A431B-C484-48FE-ADE6-41CFC46C1955}"/>
              </a:ext>
            </a:extLst>
          </p:cNvPr>
          <p:cNvSpPr>
            <a:spLocks xmlns:a="http://schemas.openxmlformats.org/drawingml/2006/main" noGrp="1"/>
          </p:cNvSpPr>
          <p:nvPr/>
        </p:nvSpPr>
        <p:spPr>
          <a:xfrm xmlns:a="http://schemas.openxmlformats.org/drawingml/2006/main">
            <a:off x="609600" y="3381375"/>
            <a:ext cx="904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66E0B5"/>
                </a:solidFill>
                <a:latin typeface="Arial"/>
                <a:ea typeface="Arial"/>
                <a:cs typeface="Arial"/>
              </a:defRPr>
            </a:pPr>
            <a:r>
              <a:rPr sz="3150" b="1">
                <a:solidFill>
                  <a:srgbClr val="66E0B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734CD6A-A760-4525-B24F-0935F15A66DC}"/>
              </a:ext>
            </a:extLst>
          </p:cNvPr>
          <p:cNvSpPr>
            <a:spLocks xmlns:a="http://schemas.openxmlformats.org/drawingml/2006/main" noGrp="1"/>
          </p:cNvSpPr>
          <p:nvPr/>
        </p:nvSpPr>
        <p:spPr>
          <a:xfrm xmlns:a="http://schemas.openxmlformats.org/drawingml/2006/main">
            <a:off x="1838325" y="3371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Nhờ TA duyệt và bổ sung nguồn</a:t>
            </a:r>
          </a:p>
        </p:txBody>
      </p:sp>
      <p:sp>
        <p:nvSpPr>
          <p:cNvPr id="10" name="">
            <a:extLst xmlns:a="http://schemas.openxmlformats.org/drawingml/2006/main">
              <a:ext uri="{FF2B5EF4-FFF2-40B4-BE49-F238E27FC236}">
                <a16:creationId xmlns:a16="http://schemas.microsoft.com/office/drawing/2014/main" id="{F3DE491A-DD90-4DA4-8C23-3E1B4B5449B0}"/>
              </a:ext>
            </a:extLst>
          </p:cNvPr>
          <p:cNvSpPr>
            <a:spLocks xmlns:a="http://schemas.openxmlformats.org/drawingml/2006/main" noGrp="1"/>
          </p:cNvSpPr>
          <p:nvPr/>
        </p:nvSpPr>
        <p:spPr>
          <a:xfrm xmlns:a="http://schemas.openxmlformats.org/drawingml/2006/main">
            <a:off x="1838325" y="3924300"/>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Mở rộng từ 4 trích đoạn đã đối chiếu.</a:t>
            </a:r>
          </a:p>
        </p:txBody>
      </p:sp>
      <p:sp>
        <p:nvSpPr>
          <p:cNvPr id="11" name="">
            <a:extLst xmlns:a="http://schemas.openxmlformats.org/drawingml/2006/main">
              <a:ext uri="{FF2B5EF4-FFF2-40B4-BE49-F238E27FC236}">
                <a16:creationId xmlns:a16="http://schemas.microsoft.com/office/drawing/2014/main" id="{93BBBE25-8CB2-4930-9DC5-BC13D34FFA70}"/>
              </a:ext>
            </a:extLst>
          </p:cNvPr>
          <p:cNvSpPr>
            <a:spLocks xmlns:a="http://schemas.openxmlformats.org/drawingml/2006/main" noGrp="1"/>
          </p:cNvSpPr>
          <p:nvPr/>
        </p:nvSpPr>
        <p:spPr>
          <a:xfrm xmlns:a="http://schemas.openxmlformats.org/drawingml/2006/main">
            <a:off x="609600" y="4667250"/>
            <a:ext cx="904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66E0B5"/>
                </a:solidFill>
                <a:latin typeface="Arial"/>
                <a:ea typeface="Arial"/>
                <a:cs typeface="Arial"/>
              </a:defRPr>
            </a:pPr>
            <a:r>
              <a:rPr sz="3150" b="1">
                <a:solidFill>
                  <a:srgbClr val="66E0B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6F115663-EB64-48A0-AFE5-9AA4D53436E0}"/>
              </a:ext>
            </a:extLst>
          </p:cNvPr>
          <p:cNvSpPr>
            <a:spLocks xmlns:a="http://schemas.openxmlformats.org/drawingml/2006/main" noGrp="1"/>
          </p:cNvSpPr>
          <p:nvPr/>
        </p:nvSpPr>
        <p:spPr>
          <a:xfrm xmlns:a="http://schemas.openxmlformats.org/drawingml/2006/main">
            <a:off x="1838325" y="4657725"/>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Dùng thử với 5 người ngoài nhóm</a:t>
            </a:r>
          </a:p>
        </p:txBody>
      </p:sp>
      <p:sp>
        <p:nvSpPr>
          <p:cNvPr id="13" name="">
            <a:extLst xmlns:a="http://schemas.openxmlformats.org/drawingml/2006/main">
              <a:ext uri="{FF2B5EF4-FFF2-40B4-BE49-F238E27FC236}">
                <a16:creationId xmlns:a16="http://schemas.microsoft.com/office/drawing/2014/main" id="{20A829DD-F9AD-4D16-9AE8-F67395132C23}"/>
              </a:ext>
            </a:extLst>
          </p:cNvPr>
          <p:cNvSpPr>
            <a:spLocks xmlns:a="http://schemas.openxmlformats.org/drawingml/2006/main" noGrp="1"/>
          </p:cNvSpPr>
          <p:nvPr/>
        </p:nvSpPr>
        <p:spPr>
          <a:xfrm xmlns:a="http://schemas.openxmlformats.org/drawingml/2006/main">
            <a:off x="1838325" y="521017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Ghi feedback thật và kiểm chứng đường chuyển TA trên Discord.</a:t>
            </a:r>
          </a:p>
        </p:txBody>
      </p:sp>
      <p:sp>
        <p:nvSpPr>
          <p:cNvPr id="14" name="">
            <a:extLst xmlns:a="http://schemas.openxmlformats.org/drawingml/2006/main">
              <a:ext uri="{FF2B5EF4-FFF2-40B4-BE49-F238E27FC236}">
                <a16:creationId xmlns:a16="http://schemas.microsoft.com/office/drawing/2014/main" id="{92323112-D966-4BDA-BB9B-F93AEAB5B258}"/>
              </a:ext>
            </a:extLst>
          </p:cNvPr>
          <p:cNvSpPr>
            <a:spLocks xmlns:a="http://schemas.openxmlformats.org/drawingml/2006/main" noGrp="1"/>
          </p:cNvSpPr>
          <p:nvPr/>
        </p:nvSpPr>
        <p:spPr>
          <a:xfrm xmlns:a="http://schemas.openxmlformats.org/drawingml/2006/main">
            <a:off x="609600" y="5886450"/>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6E0B5"/>
                </a:solidFill>
                <a:latin typeface="Arial"/>
                <a:ea typeface="Arial"/>
                <a:cs typeface="Arial"/>
              </a:defRPr>
            </a:pPr>
            <a:r>
              <a:rPr sz="1950" b="1">
                <a:solidFill>
                  <a:srgbClr val="66E0B5"/>
                </a:solidFill>
                <a:latin typeface="Arial"/>
                <a:ea typeface="Arial"/>
                <a:cs typeface="Arial"/>
              </a:rPr>
              <a:t>Bài học: mỗi hướng dẫn cần có nguồn thực sự chứng minh.</a:t>
            </a:r>
          </a:p>
        </p:txBody>
      </p:sp>
    </p:spTree>
    <p:extLst>
      <p:ext uri="{BB962C8B-B14F-4D97-AF65-F5344CB8AC3E}">
        <p14:creationId xmlns:p14="http://schemas.microsoft.com/office/powerpoint/2010/main" val="249541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2026-09-18T10:47:54.3700000Z</dcterms:created>
  <dcterms:modified xsi:type="dcterms:W3CDTF">2026-09-18T10:47:54.3700000Z</dcterms:modified>
</coreProperties>
</file>